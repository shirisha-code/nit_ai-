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ppt/notesSlides/notesSlide1.xml" ContentType="application/vnd.openxmlformats-officedocument.presentationml.notesSlide+xml"/>
  <Override PartName="/ppt/media/image23.jpg" ContentType="image/jpeg"/>
  <Override PartName="/ppt/media/image24.jpg" ContentType="image/jpeg"/>
  <Override PartName="/ppt/media/image2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69" r:id="rId2"/>
    <p:sldId id="257" r:id="rId3"/>
    <p:sldId id="273" r:id="rId4"/>
    <p:sldId id="258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9" r:id="rId16"/>
    <p:sldId id="278" r:id="rId17"/>
    <p:sldId id="268" r:id="rId18"/>
    <p:sldId id="276" r:id="rId19"/>
    <p:sldId id="277" r:id="rId20"/>
    <p:sldId id="270" r:id="rId2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408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3B435-A6F1-48C0-9DC1-2C0422257DD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501B6-AFCA-45EC-BB67-CA51301F6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71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501B6-AFCA-45EC-BB67-CA51301F6D0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74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67099" y="3973434"/>
            <a:ext cx="17013555" cy="20891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0" i="0">
                <a:solidFill>
                  <a:srgbClr val="002D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0F0F0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rgbClr val="002D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0F0F0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rgbClr val="002D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4159" y="3215870"/>
            <a:ext cx="8646795" cy="6337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456488" y="3208017"/>
            <a:ext cx="8646794" cy="6345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3643868"/>
            <a:ext cx="5858460" cy="545009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4966" y="3643868"/>
            <a:ext cx="5874166" cy="545009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03259" y="3643868"/>
            <a:ext cx="5858460" cy="54500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rgbClr val="002D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2010" y="756910"/>
            <a:ext cx="16619855" cy="96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0" i="0">
                <a:solidFill>
                  <a:srgbClr val="002D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54703" y="4588214"/>
            <a:ext cx="13587094" cy="3380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0F0F0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plilearn.com/tutorials/artificial-intelligence-tutorial/what-are-expert-systems-in-ai" TargetMode="External"/><Relationship Id="rId2" Type="http://schemas.openxmlformats.org/officeDocument/2006/relationships/hyperlink" Target="https://www.tutorialspoint.com/artificial_intelligence/artificial_intelligence_expert_systems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ygreatlearning.com/blog/expert-systems-in-artificial-intelligence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E6B35-BCB1-3CA5-5895-39572C84F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4850" y="549275"/>
            <a:ext cx="17013555" cy="892552"/>
          </a:xfrm>
        </p:spPr>
        <p:txBody>
          <a:bodyPr/>
          <a:lstStyle/>
          <a:p>
            <a:r>
              <a:rPr lang="en-IN" dirty="0"/>
              <a:t>STEPS IN DEVELOPING AN EXPERT SYSTEMS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6BE59-4171-CC18-FF03-03F6413FC97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0280650" y="13427073"/>
            <a:ext cx="6092987" cy="457201"/>
          </a:xfrm>
        </p:spPr>
        <p:txBody>
          <a:bodyPr/>
          <a:lstStyle/>
          <a:p>
            <a:pPr algn="r"/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9583F-B552-BCEF-2352-01D70E6C6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650" y="2378075"/>
            <a:ext cx="10793477" cy="719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6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708" y="3612455"/>
            <a:ext cx="8717012" cy="54972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10" y="756910"/>
            <a:ext cx="16619855" cy="1415961"/>
          </a:xfrm>
          <a:prstGeom prst="rect">
            <a:avLst/>
          </a:prstGeom>
        </p:spPr>
        <p:txBody>
          <a:bodyPr vert="horz" wrap="square" lIns="0" tIns="61147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95"/>
              </a:spcBef>
            </a:pPr>
            <a:r>
              <a:rPr lang="en-US" sz="8800">
                <a:solidFill>
                  <a:srgbClr val="003867"/>
                </a:solidFill>
                <a:latin typeface="Cambria"/>
                <a:cs typeface="Cambria"/>
              </a:rPr>
              <a:t>What</a:t>
            </a:r>
            <a:r>
              <a:rPr lang="en-US" sz="8800" spc="-315">
                <a:solidFill>
                  <a:srgbClr val="003867"/>
                </a:solidFill>
                <a:latin typeface="Cambria"/>
                <a:cs typeface="Cambria"/>
              </a:rPr>
              <a:t> </a:t>
            </a:r>
            <a:r>
              <a:rPr lang="en-US" sz="8800" spc="140">
                <a:solidFill>
                  <a:srgbClr val="003459"/>
                </a:solidFill>
                <a:latin typeface="Cambria"/>
                <a:cs typeface="Cambria"/>
              </a:rPr>
              <a:t>is</a:t>
            </a:r>
            <a:r>
              <a:rPr lang="en-US" sz="8800" spc="-320">
                <a:solidFill>
                  <a:srgbClr val="003459"/>
                </a:solidFill>
                <a:latin typeface="Cambria"/>
                <a:cs typeface="Cambria"/>
              </a:rPr>
              <a:t> </a:t>
            </a:r>
            <a:r>
              <a:rPr lang="en-US" sz="8800">
                <a:solidFill>
                  <a:srgbClr val="003864"/>
                </a:solidFill>
                <a:latin typeface="Cambria"/>
                <a:cs typeface="Cambria"/>
              </a:rPr>
              <a:t>an</a:t>
            </a:r>
            <a:r>
              <a:rPr lang="en-US" sz="8800" spc="-350">
                <a:solidFill>
                  <a:srgbClr val="003864"/>
                </a:solidFill>
                <a:latin typeface="Cambria"/>
                <a:cs typeface="Cambria"/>
              </a:rPr>
              <a:t> </a:t>
            </a:r>
            <a:r>
              <a:rPr lang="en-US" sz="8800">
                <a:solidFill>
                  <a:srgbClr val="05365B"/>
                </a:solidFill>
                <a:latin typeface="Cambria"/>
                <a:cs typeface="Cambria"/>
              </a:rPr>
              <a:t>Expert</a:t>
            </a:r>
            <a:r>
              <a:rPr lang="en-US" sz="8800" spc="-90">
                <a:solidFill>
                  <a:srgbClr val="05365B"/>
                </a:solidFill>
                <a:latin typeface="Cambria"/>
                <a:cs typeface="Cambria"/>
              </a:rPr>
              <a:t> </a:t>
            </a:r>
            <a:r>
              <a:rPr lang="en-US" sz="8800" spc="-10">
                <a:solidFill>
                  <a:srgbClr val="00386B"/>
                </a:solidFill>
                <a:latin typeface="Cambria"/>
                <a:cs typeface="Cambria"/>
              </a:rPr>
              <a:t>System?</a:t>
            </a:r>
            <a:endParaRPr lang="en-US" sz="8800" spc="-10" dirty="0">
              <a:solidFill>
                <a:srgbClr val="00386B"/>
              </a:solidFill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447" y="2606675"/>
            <a:ext cx="8111490" cy="808856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5240" marR="25400" indent="-3175">
              <a:lnSpc>
                <a:spcPts val="4950"/>
              </a:lnSpc>
              <a:spcBef>
                <a:spcPts val="775"/>
              </a:spcBef>
            </a:pPr>
            <a:r>
              <a:rPr sz="4600" spc="-434" dirty="0">
                <a:solidFill>
                  <a:srgbClr val="05365B"/>
                </a:solidFill>
                <a:latin typeface="Times New Roman"/>
                <a:cs typeface="Times New Roman"/>
              </a:rPr>
              <a:t>A</a:t>
            </a:r>
            <a:r>
              <a:rPr sz="4600" spc="-160" dirty="0">
                <a:solidFill>
                  <a:srgbClr val="05365B"/>
                </a:solidFill>
                <a:latin typeface="Times New Roman"/>
                <a:cs typeface="Times New Roman"/>
              </a:rPr>
              <a:t> </a:t>
            </a:r>
            <a:r>
              <a:rPr sz="4600" spc="85" dirty="0">
                <a:solidFill>
                  <a:srgbClr val="003360"/>
                </a:solidFill>
                <a:latin typeface="Times New Roman"/>
                <a:cs typeface="Times New Roman"/>
              </a:rPr>
              <a:t>computer</a:t>
            </a:r>
            <a:r>
              <a:rPr sz="4600" spc="484" dirty="0">
                <a:solidFill>
                  <a:srgbClr val="003360"/>
                </a:solidFill>
                <a:latin typeface="Times New Roman"/>
                <a:cs typeface="Times New Roman"/>
              </a:rPr>
              <a:t> </a:t>
            </a:r>
            <a:r>
              <a:rPr sz="4600" spc="125" dirty="0">
                <a:solidFill>
                  <a:srgbClr val="003F62"/>
                </a:solidFill>
                <a:latin typeface="Times New Roman"/>
                <a:cs typeface="Times New Roman"/>
              </a:rPr>
              <a:t>program</a:t>
            </a:r>
            <a:r>
              <a:rPr sz="4600" spc="165" dirty="0">
                <a:solidFill>
                  <a:srgbClr val="003F62"/>
                </a:solidFill>
                <a:latin typeface="Times New Roman"/>
                <a:cs typeface="Times New Roman"/>
              </a:rPr>
              <a:t> </a:t>
            </a:r>
            <a:r>
              <a:rPr sz="4600" spc="235" dirty="0">
                <a:solidFill>
                  <a:srgbClr val="0F3D60"/>
                </a:solidFill>
                <a:latin typeface="Times New Roman"/>
                <a:cs typeface="Times New Roman"/>
              </a:rPr>
              <a:t>that</a:t>
            </a:r>
            <a:r>
              <a:rPr sz="4600" spc="45" dirty="0">
                <a:solidFill>
                  <a:srgbClr val="0F3D60"/>
                </a:solidFill>
                <a:latin typeface="Times New Roman"/>
                <a:cs typeface="Times New Roman"/>
              </a:rPr>
              <a:t> </a:t>
            </a:r>
            <a:r>
              <a:rPr sz="4600" spc="245" dirty="0">
                <a:solidFill>
                  <a:srgbClr val="053A5E"/>
                </a:solidFill>
                <a:latin typeface="Times New Roman"/>
                <a:cs typeface="Times New Roman"/>
              </a:rPr>
              <a:t>thinks </a:t>
            </a:r>
            <a:r>
              <a:rPr sz="4600" spc="80" dirty="0">
                <a:solidFill>
                  <a:srgbClr val="002D49"/>
                </a:solidFill>
                <a:latin typeface="Times New Roman"/>
                <a:cs typeface="Times New Roman"/>
              </a:rPr>
              <a:t>like</a:t>
            </a:r>
            <a:r>
              <a:rPr sz="4600" spc="-235" dirty="0">
                <a:solidFill>
                  <a:srgbClr val="002D49"/>
                </a:solidFill>
                <a:latin typeface="Times New Roman"/>
                <a:cs typeface="Times New Roman"/>
              </a:rPr>
              <a:t> </a:t>
            </a:r>
            <a:r>
              <a:rPr sz="4600" spc="220" dirty="0">
                <a:solidFill>
                  <a:srgbClr val="013B6B"/>
                </a:solidFill>
                <a:latin typeface="Times New Roman"/>
                <a:cs typeface="Times New Roman"/>
              </a:rPr>
              <a:t>a</a:t>
            </a:r>
            <a:r>
              <a:rPr sz="4600" spc="-60" dirty="0">
                <a:solidFill>
                  <a:srgbClr val="013B6B"/>
                </a:solidFill>
                <a:latin typeface="Times New Roman"/>
                <a:cs typeface="Times New Roman"/>
              </a:rPr>
              <a:t> </a:t>
            </a:r>
            <a:r>
              <a:rPr sz="4600" spc="225" dirty="0">
                <a:solidFill>
                  <a:srgbClr val="002F59"/>
                </a:solidFill>
                <a:latin typeface="Times New Roman"/>
                <a:cs typeface="Times New Roman"/>
              </a:rPr>
              <a:t>human</a:t>
            </a:r>
            <a:r>
              <a:rPr sz="4600" spc="100" dirty="0">
                <a:solidFill>
                  <a:srgbClr val="002F59"/>
                </a:solidFill>
                <a:latin typeface="Times New Roman"/>
                <a:cs typeface="Times New Roman"/>
              </a:rPr>
              <a:t> </a:t>
            </a:r>
            <a:r>
              <a:rPr sz="4600" spc="130" dirty="0">
                <a:solidFill>
                  <a:srgbClr val="003B5E"/>
                </a:solidFill>
                <a:latin typeface="Times New Roman"/>
                <a:cs typeface="Times New Roman"/>
              </a:rPr>
              <a:t>expert.</a:t>
            </a:r>
            <a:endParaRPr lang="en-IN" sz="4600" spc="130" dirty="0">
              <a:solidFill>
                <a:srgbClr val="003B5E"/>
              </a:solidFill>
              <a:latin typeface="Times New Roman"/>
              <a:cs typeface="Times New Roman"/>
            </a:endParaRPr>
          </a:p>
          <a:p>
            <a:pPr marL="354965" marR="25400" indent="-342900">
              <a:lnSpc>
                <a:spcPts val="4950"/>
              </a:lnSpc>
              <a:spcBef>
                <a:spcPts val="77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expert systems are the computer applications developed to solve complex problems in a particular domain, at the level of extra-ordinary human intelligence and expertise.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407034" marR="181610" indent="-317500">
              <a:lnSpc>
                <a:spcPct val="113599"/>
              </a:lnSpc>
              <a:spcBef>
                <a:spcPts val="1475"/>
              </a:spcBef>
              <a:buClr>
                <a:srgbClr val="18283F"/>
              </a:buClr>
              <a:buChar char="•"/>
              <a:tabLst>
                <a:tab pos="410209" algn="l"/>
              </a:tabLst>
            </a:pPr>
            <a:r>
              <a:rPr sz="2800" dirty="0">
                <a:solidFill>
                  <a:srgbClr val="2D2D2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It</a:t>
            </a:r>
            <a:r>
              <a:rPr sz="2800" spc="135" dirty="0">
                <a:solidFill>
                  <a:srgbClr val="2D2D2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0F0F0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solves</a:t>
            </a:r>
            <a:r>
              <a:rPr sz="2800" spc="180" dirty="0">
                <a:solidFill>
                  <a:srgbClr val="0F0F0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difficult</a:t>
            </a:r>
            <a:r>
              <a:rPr sz="2800" spc="190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problems</a:t>
            </a:r>
            <a:r>
              <a:rPr sz="2800" spc="215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2626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</a:t>
            </a:r>
            <a:r>
              <a:rPr sz="2800" spc="25" dirty="0">
                <a:solidFill>
                  <a:srgbClr val="26262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105" dirty="0">
                <a:solidFill>
                  <a:srgbClr val="162B4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 </a:t>
            </a:r>
            <a:r>
              <a:rPr sz="2800" spc="229" dirty="0">
                <a:solidFill>
                  <a:srgbClr val="0E0E0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very</a:t>
            </a:r>
            <a:r>
              <a:rPr sz="2800" spc="215" dirty="0">
                <a:solidFill>
                  <a:srgbClr val="0E0E0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0F0F0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specific</a:t>
            </a:r>
            <a:r>
              <a:rPr sz="2800" spc="260" dirty="0">
                <a:solidFill>
                  <a:srgbClr val="0F0F0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21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area</a:t>
            </a:r>
            <a:r>
              <a:rPr sz="2800" spc="85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10" dirty="0">
                <a:solidFill>
                  <a:srgbClr val="23232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(like </a:t>
            </a:r>
            <a:r>
              <a:rPr sz="2800" dirty="0">
                <a:solidFill>
                  <a:srgbClr val="13131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medical</a:t>
            </a:r>
            <a:r>
              <a:rPr sz="2800" spc="215" dirty="0">
                <a:solidFill>
                  <a:srgbClr val="13131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diagnosis</a:t>
            </a:r>
            <a:r>
              <a:rPr sz="2800" spc="285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or</a:t>
            </a:r>
            <a:r>
              <a:rPr sz="2800" spc="204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fraud</a:t>
            </a:r>
            <a:r>
              <a:rPr sz="2800" spc="155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detection).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404495" marR="660400" indent="-314960">
              <a:lnSpc>
                <a:spcPct val="113599"/>
              </a:lnSpc>
              <a:spcBef>
                <a:spcPts val="1855"/>
              </a:spcBef>
              <a:buChar char="•"/>
              <a:tabLst>
                <a:tab pos="404495" algn="l"/>
                <a:tab pos="407034" algn="l"/>
              </a:tabLst>
            </a:pPr>
            <a:r>
              <a:rPr sz="28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	</a:t>
            </a:r>
            <a:r>
              <a:rPr sz="2800" dirty="0">
                <a:solidFill>
                  <a:srgbClr val="0F0F0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It</a:t>
            </a:r>
            <a:r>
              <a:rPr sz="2800" spc="125" dirty="0">
                <a:solidFill>
                  <a:srgbClr val="0F0F0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60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uses</a:t>
            </a:r>
            <a:r>
              <a:rPr sz="2800" spc="235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105" dirty="0">
                <a:solidFill>
                  <a:srgbClr val="182A4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</a:t>
            </a:r>
            <a:r>
              <a:rPr sz="2800" spc="125" dirty="0">
                <a:solidFill>
                  <a:srgbClr val="182A4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database</a:t>
            </a:r>
            <a:r>
              <a:rPr sz="2800" spc="340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sz="2800" spc="44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rules</a:t>
            </a:r>
            <a:r>
              <a:rPr sz="2800" spc="275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sz="2800" spc="13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3131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facts</a:t>
            </a:r>
            <a:r>
              <a:rPr lang="en-IN" sz="2800" dirty="0">
                <a:solidFill>
                  <a:srgbClr val="13131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3131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called</a:t>
            </a:r>
            <a:r>
              <a:rPr sz="2800" spc="210" dirty="0">
                <a:solidFill>
                  <a:srgbClr val="13131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25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2800" dirty="0">
                <a:solidFill>
                  <a:srgbClr val="0E0E0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'Knowledge</a:t>
            </a:r>
            <a:r>
              <a:rPr sz="2800" spc="75" dirty="0">
                <a:solidFill>
                  <a:srgbClr val="0E0E0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60" dirty="0">
                <a:solidFill>
                  <a:srgbClr val="0C0C0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Base'</a:t>
            </a:r>
            <a:r>
              <a:rPr lang="en-IN" sz="2800" spc="-60" dirty="0">
                <a:solidFill>
                  <a:srgbClr val="0C0C0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0C0C0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taken</a:t>
            </a:r>
            <a:r>
              <a:rPr sz="2800" spc="175" dirty="0">
                <a:solidFill>
                  <a:srgbClr val="0C0C0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directly</a:t>
            </a:r>
            <a:r>
              <a:rPr sz="2800" spc="85" dirty="0">
                <a:solidFill>
                  <a:srgbClr val="0E0E0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</a:t>
            </a:r>
            <a:r>
              <a:rPr sz="2800" spc="-5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C1C1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human</a:t>
            </a:r>
            <a:r>
              <a:rPr sz="2800" spc="25" dirty="0">
                <a:solidFill>
                  <a:srgbClr val="1C1C1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experts.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405765" marR="5080" indent="-317500">
              <a:lnSpc>
                <a:spcPct val="109100"/>
              </a:lnSpc>
              <a:spcBef>
                <a:spcPts val="1875"/>
              </a:spcBef>
              <a:buClr>
                <a:srgbClr val="15233D"/>
              </a:buClr>
              <a:buChar char="•"/>
              <a:tabLst>
                <a:tab pos="408940" algn="l"/>
              </a:tabLst>
            </a:pPr>
            <a:r>
              <a:rPr sz="280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It</a:t>
            </a:r>
            <a:r>
              <a:rPr sz="2800" spc="-95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uses</a:t>
            </a:r>
            <a:r>
              <a:rPr sz="2800" spc="-35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</a:t>
            </a:r>
            <a:r>
              <a:rPr sz="2800" spc="-9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75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Inference</a:t>
            </a:r>
            <a:r>
              <a:rPr sz="2800" spc="-25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8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Engine</a:t>
            </a:r>
            <a:r>
              <a:rPr sz="2800" spc="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</a:t>
            </a:r>
            <a:r>
              <a:rPr sz="2800" spc="-8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75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reason</a:t>
            </a:r>
            <a:r>
              <a:rPr sz="2800" spc="20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sz="2800" spc="-95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25" dirty="0">
                <a:solidFill>
                  <a:srgbClr val="13131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figure</a:t>
            </a:r>
            <a:r>
              <a:rPr sz="2800" spc="-5" dirty="0">
                <a:solidFill>
                  <a:srgbClr val="13131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out</a:t>
            </a:r>
            <a:r>
              <a:rPr sz="2800" spc="15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25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2800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best</a:t>
            </a:r>
            <a:r>
              <a:rPr sz="2800" spc="80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30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answer</a:t>
            </a:r>
            <a:r>
              <a:rPr sz="2800" spc="125" dirty="0">
                <a:solidFill>
                  <a:srgbClr val="16161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based</a:t>
            </a:r>
            <a:r>
              <a:rPr sz="2800" spc="50" dirty="0">
                <a:solidFill>
                  <a:srgbClr val="1818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dirty="0">
                <a:solidFill>
                  <a:srgbClr val="1D1D1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</a:t>
            </a:r>
            <a:r>
              <a:rPr sz="2800" spc="-35" dirty="0">
                <a:solidFill>
                  <a:srgbClr val="1D1D1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40" dirty="0">
                <a:solidFill>
                  <a:srgbClr val="1C1C1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2800" spc="-50" dirty="0">
                <a:solidFill>
                  <a:srgbClr val="1C1C1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10" dirty="0">
                <a:solidFill>
                  <a:srgbClr val="15151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rules.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C5F17D-84C9-E029-7F43-8BBD9CDB5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08" y="3595673"/>
            <a:ext cx="8717012" cy="54972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B628EF-5235-22F7-9BF8-91F8C1B7A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7050" y="701675"/>
            <a:ext cx="7239000" cy="7772400"/>
          </a:xfrm>
        </p:spPr>
        <p:txBody>
          <a:bodyPr/>
          <a:lstStyle/>
          <a:p>
            <a:r>
              <a:rPr lang="en-IN" sz="6600" dirty="0">
                <a:solidFill>
                  <a:schemeClr val="tx2">
                    <a:lumMod val="50000"/>
                  </a:schemeClr>
                </a:solidFill>
              </a:rPr>
              <a:t>Characteristics of Expert Systems</a:t>
            </a:r>
          </a:p>
          <a:p>
            <a:endParaRPr lang="en-IN" sz="6000" dirty="0">
              <a:solidFill>
                <a:schemeClr val="tx2">
                  <a:lumMod val="50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High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Understandable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Reliable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Highly responsive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7BD0E4-298F-E24C-D992-D1BED5175C22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70850" y="717550"/>
            <a:ext cx="10422832" cy="8202245"/>
          </a:xfrm>
        </p:spPr>
        <p:txBody>
          <a:bodyPr/>
          <a:lstStyle/>
          <a:p>
            <a:r>
              <a:rPr lang="en-IN" sz="6600" dirty="0"/>
              <a:t>Capabilities of Expert Systems</a:t>
            </a:r>
          </a:p>
          <a:p>
            <a:endParaRPr lang="en-US" sz="4400" dirty="0"/>
          </a:p>
          <a:p>
            <a:r>
              <a:rPr lang="en-US" sz="4400" dirty="0"/>
              <a:t>The expert systems are capable of −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Advising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Instructing and assisting human in decision making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Demonstrating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Deriving a solution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Diagnosing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Explaining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Interpreting input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Predicting results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Justifying the conclusion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Suggesting alternative options to a problem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77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8926" y="3651721"/>
            <a:ext cx="4617660" cy="33218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07442" y="3565336"/>
            <a:ext cx="5654278" cy="353392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62012" y="3581042"/>
            <a:ext cx="0" cy="3502660"/>
          </a:xfrm>
          <a:custGeom>
            <a:avLst/>
            <a:gdLst/>
            <a:ahLst/>
            <a:cxnLst/>
            <a:rect l="l" t="t" r="r" b="b"/>
            <a:pathLst>
              <a:path h="3502659">
                <a:moveTo>
                  <a:pt x="0" y="3502511"/>
                </a:moveTo>
                <a:lnTo>
                  <a:pt x="0" y="0"/>
                </a:lnTo>
              </a:path>
            </a:pathLst>
          </a:custGeom>
          <a:ln w="23559">
            <a:solidFill>
              <a:srgbClr val="0C4B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50232" y="3581042"/>
            <a:ext cx="5615305" cy="3502660"/>
            <a:chOff x="950232" y="3581042"/>
            <a:chExt cx="5615305" cy="3502660"/>
          </a:xfrm>
        </p:grpSpPr>
        <p:sp>
          <p:nvSpPr>
            <p:cNvPr id="6" name="object 6"/>
            <p:cNvSpPr/>
            <p:nvPr/>
          </p:nvSpPr>
          <p:spPr>
            <a:xfrm>
              <a:off x="6553465" y="3581042"/>
              <a:ext cx="0" cy="3502660"/>
            </a:xfrm>
            <a:custGeom>
              <a:avLst/>
              <a:gdLst/>
              <a:ahLst/>
              <a:cxnLst/>
              <a:rect l="l" t="t" r="r" b="b"/>
              <a:pathLst>
                <a:path h="3502659">
                  <a:moveTo>
                    <a:pt x="0" y="3502511"/>
                  </a:moveTo>
                  <a:lnTo>
                    <a:pt x="0" y="0"/>
                  </a:lnTo>
                </a:path>
              </a:pathLst>
            </a:custGeom>
            <a:ln w="23559">
              <a:solidFill>
                <a:srgbClr val="0C4B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50232" y="3592822"/>
              <a:ext cx="5615305" cy="0"/>
            </a:xfrm>
            <a:custGeom>
              <a:avLst/>
              <a:gdLst/>
              <a:ahLst/>
              <a:cxnLst/>
              <a:rect l="l" t="t" r="r" b="b"/>
              <a:pathLst>
                <a:path w="5615305">
                  <a:moveTo>
                    <a:pt x="0" y="0"/>
                  </a:moveTo>
                  <a:lnTo>
                    <a:pt x="5615012" y="0"/>
                  </a:lnTo>
                </a:path>
              </a:pathLst>
            </a:custGeom>
            <a:ln w="23559">
              <a:solidFill>
                <a:srgbClr val="0C4B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50232" y="7071774"/>
              <a:ext cx="5615305" cy="0"/>
            </a:xfrm>
            <a:custGeom>
              <a:avLst/>
              <a:gdLst/>
              <a:ahLst/>
              <a:cxnLst/>
              <a:rect l="l" t="t" r="r" b="b"/>
              <a:pathLst>
                <a:path w="5615305">
                  <a:moveTo>
                    <a:pt x="0" y="0"/>
                  </a:moveTo>
                  <a:lnTo>
                    <a:pt x="5615012" y="0"/>
                  </a:lnTo>
                </a:path>
              </a:pathLst>
            </a:custGeom>
            <a:ln w="23559">
              <a:solidFill>
                <a:srgbClr val="0C4B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1321" y="3616381"/>
              <a:ext cx="981710" cy="0"/>
            </a:xfrm>
            <a:custGeom>
              <a:avLst/>
              <a:gdLst/>
              <a:ahLst/>
              <a:cxnLst/>
              <a:rect l="l" t="t" r="r" b="b"/>
              <a:pathLst>
                <a:path w="981710">
                  <a:moveTo>
                    <a:pt x="0" y="0"/>
                  </a:moveTo>
                  <a:lnTo>
                    <a:pt x="981645" y="0"/>
                  </a:lnTo>
                </a:path>
              </a:pathLst>
            </a:custGeom>
            <a:ln w="7853">
              <a:solidFill>
                <a:srgbClr val="605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60597" y="3616381"/>
              <a:ext cx="997585" cy="0"/>
            </a:xfrm>
            <a:custGeom>
              <a:avLst/>
              <a:gdLst/>
              <a:ahLst/>
              <a:cxnLst/>
              <a:rect l="l" t="t" r="r" b="b"/>
              <a:pathLst>
                <a:path w="997585">
                  <a:moveTo>
                    <a:pt x="0" y="0"/>
                  </a:moveTo>
                  <a:lnTo>
                    <a:pt x="997351" y="0"/>
                  </a:lnTo>
                </a:path>
              </a:pathLst>
            </a:custGeom>
            <a:ln w="7853">
              <a:solidFill>
                <a:srgbClr val="605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07761" y="3608528"/>
              <a:ext cx="1005205" cy="0"/>
            </a:xfrm>
            <a:custGeom>
              <a:avLst/>
              <a:gdLst/>
              <a:ahLst/>
              <a:cxnLst/>
              <a:rect l="l" t="t" r="r" b="b"/>
              <a:pathLst>
                <a:path w="1005204">
                  <a:moveTo>
                    <a:pt x="0" y="0"/>
                  </a:moveTo>
                  <a:lnTo>
                    <a:pt x="1005205" y="0"/>
                  </a:lnTo>
                </a:path>
              </a:pathLst>
            </a:custGeom>
            <a:ln w="7853">
              <a:solidFill>
                <a:srgbClr val="605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52743" y="3608528"/>
              <a:ext cx="1013460" cy="0"/>
            </a:xfrm>
            <a:custGeom>
              <a:avLst/>
              <a:gdLst/>
              <a:ahLst/>
              <a:cxnLst/>
              <a:rect l="l" t="t" r="r" b="b"/>
              <a:pathLst>
                <a:path w="1013460">
                  <a:moveTo>
                    <a:pt x="0" y="0"/>
                  </a:moveTo>
                  <a:lnTo>
                    <a:pt x="1013058" y="0"/>
                  </a:lnTo>
                </a:path>
              </a:pathLst>
            </a:custGeom>
            <a:ln w="7853">
              <a:solidFill>
                <a:srgbClr val="605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94658" y="3632088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20">
                  <a:moveTo>
                    <a:pt x="0" y="0"/>
                  </a:moveTo>
                  <a:lnTo>
                    <a:pt x="502602" y="0"/>
                  </a:lnTo>
                </a:path>
              </a:pathLst>
            </a:custGeom>
            <a:ln w="7853">
              <a:solidFill>
                <a:srgbClr val="605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7493" y="3632088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20">
                  <a:moveTo>
                    <a:pt x="0" y="0"/>
                  </a:moveTo>
                  <a:lnTo>
                    <a:pt x="502602" y="0"/>
                  </a:lnTo>
                </a:path>
              </a:pathLst>
            </a:custGeom>
            <a:ln w="7853">
              <a:solidFill>
                <a:srgbClr val="605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7244543" y="3596749"/>
            <a:ext cx="0" cy="3495040"/>
          </a:xfrm>
          <a:custGeom>
            <a:avLst/>
            <a:gdLst/>
            <a:ahLst/>
            <a:cxnLst/>
            <a:rect l="l" t="t" r="r" b="b"/>
            <a:pathLst>
              <a:path h="3495040">
                <a:moveTo>
                  <a:pt x="0" y="3494658"/>
                </a:moveTo>
                <a:lnTo>
                  <a:pt x="0" y="0"/>
                </a:lnTo>
              </a:path>
            </a:pathLst>
          </a:custGeom>
          <a:ln w="23559">
            <a:solidFill>
              <a:srgbClr val="084B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7232763" y="3596749"/>
            <a:ext cx="5615305" cy="3495040"/>
            <a:chOff x="7232763" y="3596749"/>
            <a:chExt cx="5615305" cy="3495040"/>
          </a:xfrm>
        </p:grpSpPr>
        <p:sp>
          <p:nvSpPr>
            <p:cNvPr id="17" name="object 17"/>
            <p:cNvSpPr/>
            <p:nvPr/>
          </p:nvSpPr>
          <p:spPr>
            <a:xfrm>
              <a:off x="12835996" y="3596749"/>
              <a:ext cx="0" cy="3495040"/>
            </a:xfrm>
            <a:custGeom>
              <a:avLst/>
              <a:gdLst/>
              <a:ahLst/>
              <a:cxnLst/>
              <a:rect l="l" t="t" r="r" b="b"/>
              <a:pathLst>
                <a:path h="3495040">
                  <a:moveTo>
                    <a:pt x="0" y="3494658"/>
                  </a:moveTo>
                  <a:lnTo>
                    <a:pt x="0" y="0"/>
                  </a:lnTo>
                </a:path>
              </a:pathLst>
            </a:custGeom>
            <a:ln w="23559">
              <a:solidFill>
                <a:srgbClr val="084B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2763" y="3608528"/>
              <a:ext cx="5615305" cy="0"/>
            </a:xfrm>
            <a:custGeom>
              <a:avLst/>
              <a:gdLst/>
              <a:ahLst/>
              <a:cxnLst/>
              <a:rect l="l" t="t" r="r" b="b"/>
              <a:pathLst>
                <a:path w="5615305">
                  <a:moveTo>
                    <a:pt x="0" y="0"/>
                  </a:moveTo>
                  <a:lnTo>
                    <a:pt x="5615012" y="0"/>
                  </a:lnTo>
                </a:path>
              </a:pathLst>
            </a:custGeom>
            <a:ln w="23559">
              <a:solidFill>
                <a:srgbClr val="084B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2763" y="7079627"/>
              <a:ext cx="5615305" cy="0"/>
            </a:xfrm>
            <a:custGeom>
              <a:avLst/>
              <a:gdLst/>
              <a:ahLst/>
              <a:cxnLst/>
              <a:rect l="l" t="t" r="r" b="b"/>
              <a:pathLst>
                <a:path w="5615305">
                  <a:moveTo>
                    <a:pt x="0" y="0"/>
                  </a:moveTo>
                  <a:lnTo>
                    <a:pt x="5615012" y="0"/>
                  </a:lnTo>
                </a:path>
              </a:pathLst>
            </a:custGeom>
            <a:ln w="23559">
              <a:solidFill>
                <a:srgbClr val="084B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73792" y="3596749"/>
            <a:ext cx="5536565" cy="3471545"/>
            <a:chOff x="973792" y="3596749"/>
            <a:chExt cx="5536565" cy="347154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792" y="3596749"/>
              <a:ext cx="5536480" cy="347109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3792" y="5269472"/>
              <a:ext cx="4358506" cy="17983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26582" y="4931786"/>
              <a:ext cx="557574" cy="15706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6961" y="4444890"/>
              <a:ext cx="3007761" cy="471189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47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3A60"/>
                </a:solidFill>
                <a:latin typeface="Cambria"/>
                <a:cs typeface="Cambria"/>
              </a:rPr>
              <a:t>The</a:t>
            </a:r>
            <a:r>
              <a:rPr spc="-80" dirty="0">
                <a:solidFill>
                  <a:srgbClr val="003A60"/>
                </a:solidFill>
                <a:latin typeface="Cambria"/>
                <a:cs typeface="Cambria"/>
              </a:rPr>
              <a:t> </a:t>
            </a:r>
            <a:r>
              <a:rPr spc="-40" dirty="0">
                <a:solidFill>
                  <a:srgbClr val="00386B"/>
                </a:solidFill>
                <a:latin typeface="Cambria"/>
                <a:cs typeface="Cambria"/>
              </a:rPr>
              <a:t>Three</a:t>
            </a:r>
            <a:r>
              <a:rPr spc="-165" dirty="0">
                <a:solidFill>
                  <a:srgbClr val="00386B"/>
                </a:solidFill>
                <a:latin typeface="Cambria"/>
                <a:cs typeface="Cambria"/>
              </a:rPr>
              <a:t> </a:t>
            </a:r>
            <a:r>
              <a:rPr spc="-95" dirty="0">
                <a:solidFill>
                  <a:srgbClr val="01385D"/>
                </a:solidFill>
                <a:latin typeface="Cambria"/>
                <a:cs typeface="Cambria"/>
              </a:rPr>
              <a:t>Core</a:t>
            </a:r>
            <a:r>
              <a:rPr spc="-240" dirty="0">
                <a:solidFill>
                  <a:srgbClr val="01385D"/>
                </a:solidFill>
                <a:latin typeface="Cambria"/>
                <a:cs typeface="Cambria"/>
              </a:rPr>
              <a:t> </a:t>
            </a:r>
            <a:r>
              <a:rPr spc="-35" dirty="0">
                <a:solidFill>
                  <a:srgbClr val="00386B"/>
                </a:solidFill>
                <a:latin typeface="Cambria"/>
                <a:cs typeface="Cambria"/>
              </a:rPr>
              <a:t>Components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916739" y="4140315"/>
            <a:ext cx="417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1C2F50"/>
                </a:solidFill>
                <a:latin typeface="Cambria"/>
                <a:cs typeface="Cambria"/>
              </a:rPr>
              <a:t>XML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80914" y="7352258"/>
            <a:ext cx="4979035" cy="2087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0E5982"/>
                </a:solidFill>
                <a:latin typeface="Cambria"/>
                <a:cs typeface="Cambria"/>
              </a:rPr>
              <a:t>Knowledge</a:t>
            </a:r>
            <a:r>
              <a:rPr sz="3350" spc="229" dirty="0">
                <a:solidFill>
                  <a:srgbClr val="0E5982"/>
                </a:solidFill>
                <a:latin typeface="Cambria"/>
                <a:cs typeface="Cambria"/>
              </a:rPr>
              <a:t> </a:t>
            </a:r>
            <a:r>
              <a:rPr sz="3350" spc="-20" dirty="0">
                <a:solidFill>
                  <a:srgbClr val="0A5B85"/>
                </a:solidFill>
                <a:latin typeface="Cambria"/>
                <a:cs typeface="Cambria"/>
              </a:rPr>
              <a:t>Base</a:t>
            </a:r>
            <a:endParaRPr sz="3350" dirty="0">
              <a:latin typeface="Cambria"/>
              <a:cs typeface="Cambria"/>
            </a:endParaRPr>
          </a:p>
          <a:p>
            <a:pPr marL="12700" marR="5080" algn="ctr">
              <a:lnSpc>
                <a:spcPct val="109800"/>
              </a:lnSpc>
              <a:spcBef>
                <a:spcPts val="1645"/>
              </a:spcBef>
            </a:pPr>
            <a:r>
              <a:rPr sz="2300" spc="-9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300" spc="-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1A1A1A"/>
                </a:solidFill>
                <a:latin typeface="Calibri"/>
                <a:cs typeface="Calibri"/>
              </a:rPr>
              <a:t>'library'.</a:t>
            </a:r>
            <a:endParaRPr lang="en-IN" sz="2300" spc="-50" dirty="0">
              <a:solidFill>
                <a:srgbClr val="1A1A1A"/>
              </a:solidFill>
              <a:latin typeface="Calibri"/>
              <a:cs typeface="Calibri"/>
            </a:endParaRPr>
          </a:p>
          <a:p>
            <a:pPr marL="12700" marR="5080" algn="ctr">
              <a:lnSpc>
                <a:spcPct val="109800"/>
              </a:lnSpc>
              <a:spcBef>
                <a:spcPts val="1645"/>
              </a:spcBef>
            </a:pPr>
            <a:r>
              <a:rPr sz="23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82828"/>
                </a:solidFill>
                <a:latin typeface="Calibri"/>
                <a:cs typeface="Calibri"/>
              </a:rPr>
              <a:t>A</a:t>
            </a:r>
            <a:r>
              <a:rPr sz="2300" spc="-5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1C1C1C"/>
                </a:solidFill>
                <a:latin typeface="Calibri"/>
                <a:cs typeface="Calibri"/>
              </a:rPr>
              <a:t>collection</a:t>
            </a:r>
            <a:r>
              <a:rPr sz="2300" spc="-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1F1F1F"/>
                </a:solidFill>
                <a:latin typeface="Calibri"/>
                <a:cs typeface="Calibri"/>
              </a:rPr>
              <a:t>of</a:t>
            </a:r>
            <a:r>
              <a:rPr sz="23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A1A1A"/>
                </a:solidFill>
                <a:latin typeface="Calibri"/>
                <a:cs typeface="Calibri"/>
              </a:rPr>
              <a:t>facts,</a:t>
            </a:r>
            <a:r>
              <a:rPr sz="2300" spc="-1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65" dirty="0">
                <a:solidFill>
                  <a:srgbClr val="1A1A1A"/>
                </a:solidFill>
                <a:latin typeface="Calibri"/>
                <a:cs typeface="Calibri"/>
              </a:rPr>
              <a:t>rules,</a:t>
            </a:r>
            <a:r>
              <a:rPr sz="2300" spc="-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1F1F1F"/>
                </a:solidFill>
                <a:latin typeface="Calibri"/>
                <a:cs typeface="Calibri"/>
              </a:rPr>
              <a:t>and </a:t>
            </a:r>
            <a:r>
              <a:rPr sz="2300" spc="-10" dirty="0">
                <a:solidFill>
                  <a:srgbClr val="212121"/>
                </a:solidFill>
                <a:latin typeface="Calibri"/>
                <a:cs typeface="Calibri"/>
              </a:rPr>
              <a:t>smart</a:t>
            </a:r>
            <a:r>
              <a:rPr sz="2300" spc="-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151515"/>
                </a:solidFill>
                <a:latin typeface="Calibri"/>
                <a:cs typeface="Calibri"/>
              </a:rPr>
              <a:t>guesses</a:t>
            </a:r>
            <a:r>
              <a:rPr sz="2300" spc="-7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1F1F1F"/>
                </a:solidFill>
                <a:latin typeface="Calibri"/>
                <a:cs typeface="Calibri"/>
              </a:rPr>
              <a:t>about</a:t>
            </a:r>
            <a:r>
              <a:rPr sz="23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-70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2300" spc="-6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81818"/>
                </a:solidFill>
                <a:latin typeface="Calibri"/>
                <a:cs typeface="Calibri"/>
              </a:rPr>
              <a:t>subject.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40640" y="4084033"/>
            <a:ext cx="890269" cy="2392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sz="10050" spc="-195" baseline="-6633" dirty="0">
                <a:solidFill>
                  <a:srgbClr val="7B0318"/>
                </a:solidFill>
                <a:latin typeface="Cambria"/>
                <a:cs typeface="Cambria"/>
              </a:rPr>
              <a:t>’</a:t>
            </a:r>
            <a:r>
              <a:rPr sz="6700" spc="-130" dirty="0">
                <a:solidFill>
                  <a:srgbClr val="CC2401"/>
                </a:solidFill>
                <a:latin typeface="Cambria"/>
                <a:cs typeface="Cambria"/>
              </a:rPr>
              <a:t>x‹</a:t>
            </a:r>
            <a:endParaRPr sz="67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5070"/>
              </a:spcBef>
            </a:pPr>
            <a:r>
              <a:rPr sz="4600" spc="-50" dirty="0">
                <a:solidFill>
                  <a:srgbClr val="872633"/>
                </a:solidFill>
                <a:latin typeface="Calibri"/>
                <a:cs typeface="Calibri"/>
              </a:rPr>
              <a:t>J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83666" y="6442600"/>
            <a:ext cx="379730" cy="732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600" spc="-160" dirty="0">
                <a:solidFill>
                  <a:srgbClr val="F4C6C8"/>
                </a:solidFill>
                <a:latin typeface="Cambria"/>
                <a:cs typeface="Cambria"/>
              </a:rPr>
              <a:t>Q</a:t>
            </a:r>
            <a:endParaRPr sz="46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49318" y="7352258"/>
            <a:ext cx="5602605" cy="2119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00547C"/>
                </a:solidFill>
                <a:latin typeface="Cambria"/>
                <a:cs typeface="Cambria"/>
              </a:rPr>
              <a:t>Inference</a:t>
            </a:r>
            <a:r>
              <a:rPr sz="3350" spc="335" dirty="0">
                <a:solidFill>
                  <a:srgbClr val="00547C"/>
                </a:solidFill>
                <a:latin typeface="Cambria"/>
                <a:cs typeface="Cambria"/>
              </a:rPr>
              <a:t> </a:t>
            </a:r>
            <a:r>
              <a:rPr sz="3350" spc="50" dirty="0">
                <a:solidFill>
                  <a:srgbClr val="0C5790"/>
                </a:solidFill>
                <a:latin typeface="Cambria"/>
                <a:cs typeface="Cambria"/>
              </a:rPr>
              <a:t>Engine</a:t>
            </a:r>
            <a:endParaRPr sz="3350" dirty="0">
              <a:latin typeface="Cambria"/>
              <a:cs typeface="Cambria"/>
            </a:endParaRPr>
          </a:p>
          <a:p>
            <a:pPr marL="12700" marR="5080" algn="ctr">
              <a:lnSpc>
                <a:spcPct val="107500"/>
              </a:lnSpc>
              <a:spcBef>
                <a:spcPts val="1770"/>
              </a:spcBef>
            </a:pPr>
            <a:r>
              <a:rPr sz="2300" spc="-9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2300" spc="-8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300" spc="-90" dirty="0">
                <a:solidFill>
                  <a:srgbClr val="1C1C1C"/>
                </a:solidFill>
                <a:latin typeface="Calibri"/>
                <a:cs typeface="Calibri"/>
              </a:rPr>
              <a:t>'brain'.</a:t>
            </a:r>
            <a:r>
              <a:rPr sz="2300" spc="-3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endParaRPr lang="en-IN" sz="2300" spc="-35" dirty="0">
              <a:solidFill>
                <a:srgbClr val="1C1C1C"/>
              </a:solidFill>
              <a:latin typeface="Calibri"/>
              <a:cs typeface="Calibri"/>
            </a:endParaRPr>
          </a:p>
          <a:p>
            <a:pPr marL="12700" marR="5080" algn="ctr">
              <a:lnSpc>
                <a:spcPct val="107500"/>
              </a:lnSpc>
              <a:spcBef>
                <a:spcPts val="1770"/>
              </a:spcBef>
            </a:pPr>
            <a:r>
              <a:rPr sz="2300" spc="-35" dirty="0">
                <a:solidFill>
                  <a:srgbClr val="161616"/>
                </a:solidFill>
                <a:latin typeface="Calibri"/>
                <a:cs typeface="Calibri"/>
              </a:rPr>
              <a:t>This</a:t>
            </a:r>
            <a:r>
              <a:rPr sz="2300" spc="-6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1A1A1A"/>
                </a:solidFill>
                <a:latin typeface="Calibri"/>
                <a:cs typeface="Calibri"/>
              </a:rPr>
              <a:t>part</a:t>
            </a:r>
            <a:r>
              <a:rPr sz="2300" spc="-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161616"/>
                </a:solidFill>
                <a:latin typeface="Calibri"/>
                <a:cs typeface="Calibri"/>
              </a:rPr>
              <a:t>uses</a:t>
            </a:r>
            <a:r>
              <a:rPr sz="23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1D1D1D"/>
                </a:solidFill>
                <a:latin typeface="Calibri"/>
                <a:cs typeface="Calibri"/>
              </a:rPr>
              <a:t>logic</a:t>
            </a:r>
            <a:r>
              <a:rPr sz="2300" spc="5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300" spc="-60" dirty="0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sz="2300" spc="-1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1C1C1C"/>
                </a:solidFill>
                <a:latin typeface="Calibri"/>
                <a:cs typeface="Calibri"/>
              </a:rPr>
              <a:t>apply</a:t>
            </a:r>
            <a:r>
              <a:rPr sz="2300" spc="8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300" spc="-85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2300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42424"/>
                </a:solidFill>
                <a:latin typeface="Calibri"/>
                <a:cs typeface="Calibri"/>
              </a:rPr>
              <a:t>rules </a:t>
            </a:r>
            <a:r>
              <a:rPr sz="2300" dirty="0">
                <a:solidFill>
                  <a:srgbClr val="181818"/>
                </a:solidFill>
                <a:latin typeface="Calibri"/>
                <a:cs typeface="Calibri"/>
              </a:rPr>
              <a:t>and</a:t>
            </a:r>
            <a:r>
              <a:rPr sz="2300" spc="-1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45" dirty="0">
                <a:solidFill>
                  <a:srgbClr val="111111"/>
                </a:solidFill>
                <a:latin typeface="Calibri"/>
                <a:cs typeface="Calibri"/>
              </a:rPr>
              <a:t>draw</a:t>
            </a:r>
            <a:r>
              <a:rPr sz="2300" spc="-9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31313"/>
                </a:solidFill>
                <a:latin typeface="Calibri"/>
                <a:cs typeface="Calibri"/>
              </a:rPr>
              <a:t>conclusions.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665351" y="7352258"/>
            <a:ext cx="5343525" cy="2119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004B7C"/>
                </a:solidFill>
                <a:latin typeface="Cambria"/>
                <a:cs typeface="Cambria"/>
              </a:rPr>
              <a:t>User</a:t>
            </a:r>
            <a:r>
              <a:rPr sz="3350" spc="-15" dirty="0">
                <a:solidFill>
                  <a:srgbClr val="004B7C"/>
                </a:solidFill>
                <a:latin typeface="Cambria"/>
                <a:cs typeface="Cambria"/>
              </a:rPr>
              <a:t> </a:t>
            </a:r>
            <a:r>
              <a:rPr sz="3350" spc="-10" dirty="0">
                <a:solidFill>
                  <a:srgbClr val="0F5B90"/>
                </a:solidFill>
                <a:latin typeface="Cambria"/>
                <a:cs typeface="Cambria"/>
              </a:rPr>
              <a:t>Interface</a:t>
            </a:r>
            <a:endParaRPr sz="3350" dirty="0">
              <a:latin typeface="Cambria"/>
              <a:cs typeface="Cambria"/>
            </a:endParaRPr>
          </a:p>
          <a:p>
            <a:pPr marL="12700" marR="5080" algn="ctr">
              <a:lnSpc>
                <a:spcPct val="107500"/>
              </a:lnSpc>
              <a:spcBef>
                <a:spcPts val="1770"/>
              </a:spcBef>
            </a:pPr>
            <a:r>
              <a:rPr sz="2300" spc="-90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2300" spc="-8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0C0C0C"/>
                </a:solidFill>
                <a:latin typeface="Calibri"/>
                <a:cs typeface="Calibri"/>
              </a:rPr>
              <a:t>'console'.</a:t>
            </a:r>
            <a:endParaRPr lang="en-IN" sz="2300" spc="-100" dirty="0">
              <a:solidFill>
                <a:srgbClr val="0C0C0C"/>
              </a:solidFill>
              <a:latin typeface="Calibri"/>
              <a:cs typeface="Calibri"/>
            </a:endParaRPr>
          </a:p>
          <a:p>
            <a:pPr marL="12700" marR="5080" algn="ctr">
              <a:lnSpc>
                <a:spcPct val="107500"/>
              </a:lnSpc>
              <a:spcBef>
                <a:spcPts val="1770"/>
              </a:spcBef>
            </a:pPr>
            <a:r>
              <a:rPr sz="23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300" spc="-125" dirty="0">
                <a:solidFill>
                  <a:srgbClr val="1D1D1D"/>
                </a:solidFill>
                <a:latin typeface="Calibri"/>
                <a:cs typeface="Calibri"/>
              </a:rPr>
              <a:t>How</a:t>
            </a:r>
            <a:r>
              <a:rPr sz="2300" spc="-1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131313"/>
                </a:solidFill>
                <a:latin typeface="Calibri"/>
                <a:cs typeface="Calibri"/>
              </a:rPr>
              <a:t>non-</a:t>
            </a:r>
            <a:r>
              <a:rPr sz="2300" dirty="0">
                <a:solidFill>
                  <a:srgbClr val="131313"/>
                </a:solidFill>
                <a:latin typeface="Calibri"/>
                <a:cs typeface="Calibri"/>
              </a:rPr>
              <a:t>experts</a:t>
            </a:r>
            <a:r>
              <a:rPr sz="2300" spc="11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300" spc="-55" dirty="0">
                <a:solidFill>
                  <a:srgbClr val="131313"/>
                </a:solidFill>
                <a:latin typeface="Calibri"/>
                <a:cs typeface="Calibri"/>
              </a:rPr>
              <a:t>input</a:t>
            </a:r>
            <a:r>
              <a:rPr sz="2300" spc="-5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300" spc="-40" dirty="0">
                <a:solidFill>
                  <a:srgbClr val="1A1A1A"/>
                </a:solidFill>
                <a:latin typeface="Calibri"/>
                <a:cs typeface="Calibri"/>
              </a:rPr>
              <a:t>data,</a:t>
            </a:r>
            <a:r>
              <a:rPr sz="23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1C1C1C"/>
                </a:solidFill>
                <a:latin typeface="Calibri"/>
                <a:cs typeface="Calibri"/>
              </a:rPr>
              <a:t>ask </a:t>
            </a:r>
            <a:r>
              <a:rPr sz="2300" spc="-45" dirty="0">
                <a:solidFill>
                  <a:srgbClr val="151515"/>
                </a:solidFill>
                <a:latin typeface="Calibri"/>
                <a:cs typeface="Calibri"/>
              </a:rPr>
              <a:t>questions,</a:t>
            </a:r>
            <a:r>
              <a:rPr sz="2300" spc="-9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z="2300" spc="-1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D1D1D"/>
                </a:solidFill>
                <a:latin typeface="Calibri"/>
                <a:cs typeface="Calibri"/>
              </a:rPr>
              <a:t>receive</a:t>
            </a:r>
            <a:r>
              <a:rPr sz="2300" spc="-8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12121"/>
                </a:solidFill>
                <a:latin typeface="Calibri"/>
                <a:cs typeface="Calibri"/>
              </a:rPr>
              <a:t>clear</a:t>
            </a:r>
            <a:r>
              <a:rPr sz="2300" spc="-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11111"/>
                </a:solidFill>
                <a:latin typeface="Calibri"/>
                <a:cs typeface="Calibri"/>
              </a:rPr>
              <a:t>advice.</a:t>
            </a:r>
            <a:endParaRPr sz="2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82AD-04DF-704D-8A65-5AF93E63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E0AC44-AAB8-4D70-1F78-A287B692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675" y="3960787"/>
            <a:ext cx="6014467" cy="361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Expert System">
            <a:extLst>
              <a:ext uri="{FF2B5EF4-FFF2-40B4-BE49-F238E27FC236}">
                <a16:creationId xmlns:a16="http://schemas.microsoft.com/office/drawing/2014/main" id="{073EA93B-5AE2-5907-6A09-58C4F9D8C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85756"/>
            <a:ext cx="17810278" cy="1056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4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-311150" y="244475"/>
            <a:ext cx="20061555" cy="2089186"/>
          </a:xfrm>
          <a:prstGeom prst="rect">
            <a:avLst/>
          </a:prstGeom>
        </p:spPr>
        <p:txBody>
          <a:bodyPr vert="horz" wrap="square" lIns="0" tIns="742351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z="8750" dirty="0">
                <a:solidFill>
                  <a:srgbClr val="004F80"/>
                </a:solidFill>
                <a:latin typeface="Cambria"/>
                <a:cs typeface="Cambria"/>
              </a:rPr>
              <a:t>The</a:t>
            </a:r>
            <a:r>
              <a:rPr sz="8750" spc="-430" dirty="0">
                <a:solidFill>
                  <a:srgbClr val="004F80"/>
                </a:solidFill>
                <a:latin typeface="Cambria"/>
                <a:cs typeface="Cambria"/>
              </a:rPr>
              <a:t> </a:t>
            </a:r>
            <a:r>
              <a:rPr sz="8750" dirty="0">
                <a:solidFill>
                  <a:srgbClr val="054D7E"/>
                </a:solidFill>
                <a:latin typeface="Cambria"/>
                <a:cs typeface="Cambria"/>
              </a:rPr>
              <a:t>6</a:t>
            </a:r>
            <a:r>
              <a:rPr sz="8750" spc="-470" dirty="0">
                <a:solidFill>
                  <a:srgbClr val="054D7E"/>
                </a:solidFill>
                <a:latin typeface="Cambria"/>
                <a:cs typeface="Cambria"/>
              </a:rPr>
              <a:t> </a:t>
            </a:r>
            <a:r>
              <a:rPr sz="8750" spc="-135" dirty="0">
                <a:solidFill>
                  <a:srgbClr val="005087"/>
                </a:solidFill>
                <a:latin typeface="Cambria"/>
                <a:cs typeface="Cambria"/>
              </a:rPr>
              <a:t>Steps:</a:t>
            </a:r>
            <a:endParaRPr sz="875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250" y="2835275"/>
            <a:ext cx="17068800" cy="74066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88155" marR="5080" indent="-4276090" algn="l">
              <a:lnSpc>
                <a:spcPct val="107900"/>
              </a:lnSpc>
              <a:spcBef>
                <a:spcPts val="95"/>
              </a:spcBef>
            </a:pPr>
            <a:r>
              <a:rPr sz="4400" spc="-25" dirty="0">
                <a:solidFill>
                  <a:srgbClr val="444444"/>
                </a:solidFill>
                <a:latin typeface="Calibri"/>
                <a:cs typeface="Calibri"/>
              </a:rPr>
              <a:t>This</a:t>
            </a:r>
            <a:r>
              <a:rPr sz="4400" spc="-8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4B4B4B"/>
                </a:solidFill>
                <a:latin typeface="Calibri"/>
                <a:cs typeface="Calibri"/>
              </a:rPr>
              <a:t>is</a:t>
            </a:r>
            <a:r>
              <a:rPr sz="4400" spc="-10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4400" spc="-7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424242"/>
                </a:solidFill>
                <a:latin typeface="Calibri"/>
                <a:cs typeface="Calibri"/>
              </a:rPr>
              <a:t>process</a:t>
            </a:r>
            <a:r>
              <a:rPr sz="4400" spc="-4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4400" spc="-55" dirty="0">
                <a:solidFill>
                  <a:srgbClr val="464646"/>
                </a:solidFill>
                <a:latin typeface="Calibri"/>
                <a:cs typeface="Calibri"/>
              </a:rPr>
              <a:t>of</a:t>
            </a:r>
            <a:r>
              <a:rPr sz="4400" spc="-9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4400" spc="-40" dirty="0">
                <a:solidFill>
                  <a:srgbClr val="484848"/>
                </a:solidFill>
                <a:latin typeface="Calibri"/>
                <a:cs typeface="Calibri"/>
              </a:rPr>
              <a:t>building</a:t>
            </a:r>
            <a:r>
              <a:rPr sz="4400" spc="-3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424242"/>
                </a:solidFill>
                <a:latin typeface="Calibri"/>
                <a:cs typeface="Calibri"/>
              </a:rPr>
              <a:t>the</a:t>
            </a:r>
            <a:r>
              <a:rPr sz="44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4400" spc="-35" dirty="0">
                <a:solidFill>
                  <a:srgbClr val="424242"/>
                </a:solidFill>
                <a:latin typeface="Calibri"/>
                <a:cs typeface="Calibri"/>
              </a:rPr>
              <a:t>expert's</a:t>
            </a:r>
            <a:r>
              <a:rPr sz="44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4400" spc="-65" dirty="0">
                <a:solidFill>
                  <a:srgbClr val="424242"/>
                </a:solidFill>
                <a:latin typeface="Calibri"/>
                <a:cs typeface="Calibri"/>
              </a:rPr>
              <a:t>knowledge</a:t>
            </a:r>
            <a:r>
              <a:rPr sz="4400" spc="1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4400" spc="-20" dirty="0">
                <a:solidFill>
                  <a:srgbClr val="494949"/>
                </a:solidFill>
                <a:latin typeface="Calibri"/>
                <a:cs typeface="Calibri"/>
              </a:rPr>
              <a:t>into</a:t>
            </a:r>
            <a:r>
              <a:rPr sz="4400" spc="-6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4400" spc="-25" dirty="0">
                <a:solidFill>
                  <a:srgbClr val="424242"/>
                </a:solidFill>
                <a:latin typeface="Calibri"/>
                <a:cs typeface="Calibri"/>
              </a:rPr>
              <a:t>the </a:t>
            </a:r>
            <a:r>
              <a:rPr sz="4400" spc="-10" dirty="0">
                <a:solidFill>
                  <a:srgbClr val="494949"/>
                </a:solidFill>
                <a:latin typeface="Calibri"/>
                <a:cs typeface="Calibri"/>
              </a:rPr>
              <a:t>machine</a:t>
            </a:r>
            <a:r>
              <a:rPr lang="en-IN" sz="4400" spc="-10" dirty="0">
                <a:solidFill>
                  <a:srgbClr val="494949"/>
                </a:solidFill>
                <a:latin typeface="Calibri"/>
                <a:cs typeface="Calibri"/>
              </a:rPr>
              <a:t>.</a:t>
            </a:r>
          </a:p>
          <a:p>
            <a:pPr marL="4288155" marR="5080" indent="-4276090" algn="l">
              <a:lnSpc>
                <a:spcPct val="107900"/>
              </a:lnSpc>
              <a:spcBef>
                <a:spcPts val="95"/>
              </a:spcBef>
            </a:pPr>
            <a:endParaRPr lang="en-IN" sz="4400" spc="-10" dirty="0">
              <a:solidFill>
                <a:srgbClr val="494949"/>
              </a:solidFill>
              <a:latin typeface="Calibri"/>
              <a:cs typeface="Calibri"/>
            </a:endParaRPr>
          </a:p>
          <a:p>
            <a:pPr marL="12065" marR="5080" algn="l">
              <a:lnSpc>
                <a:spcPct val="107900"/>
              </a:lnSpc>
              <a:spcBef>
                <a:spcPts val="95"/>
              </a:spcBef>
            </a:pPr>
            <a:r>
              <a:rPr lang="en-IN" sz="4400" dirty="0">
                <a:solidFill>
                  <a:srgbClr val="003860"/>
                </a:solidFill>
                <a:latin typeface="Bahnschrift SemiLight" panose="020B0502040204020203" pitchFamily="34" charset="0"/>
                <a:cs typeface="Cambria"/>
              </a:rPr>
              <a:t>Define</a:t>
            </a:r>
            <a:r>
              <a:rPr lang="en-IN" sz="4400" spc="105" dirty="0">
                <a:solidFill>
                  <a:srgbClr val="003860"/>
                </a:solidFill>
                <a:latin typeface="Bahnschrift SemiLight" panose="020B0502040204020203" pitchFamily="34" charset="0"/>
                <a:cs typeface="Cambria"/>
              </a:rPr>
              <a:t> </a:t>
            </a:r>
            <a:r>
              <a:rPr lang="en-IN" sz="4400" dirty="0">
                <a:solidFill>
                  <a:srgbClr val="013864"/>
                </a:solidFill>
                <a:latin typeface="Bahnschrift SemiLight" panose="020B0502040204020203" pitchFamily="34" charset="0"/>
                <a:cs typeface="Cambria"/>
              </a:rPr>
              <a:t>the</a:t>
            </a:r>
            <a:r>
              <a:rPr lang="en-IN" sz="4400" spc="-140" dirty="0">
                <a:solidFill>
                  <a:srgbClr val="013864"/>
                </a:solidFill>
                <a:latin typeface="Bahnschrift SemiLight" panose="020B0502040204020203" pitchFamily="34" charset="0"/>
                <a:cs typeface="Cambria"/>
              </a:rPr>
              <a:t> </a:t>
            </a:r>
            <a:r>
              <a:rPr lang="en-IN" sz="4400" spc="-85" dirty="0">
                <a:solidFill>
                  <a:srgbClr val="003862"/>
                </a:solidFill>
                <a:latin typeface="Bahnschrift SemiLight" panose="020B0502040204020203" pitchFamily="34" charset="0"/>
                <a:cs typeface="Cambria"/>
              </a:rPr>
              <a:t>Problem</a:t>
            </a:r>
          </a:p>
          <a:p>
            <a:pPr marL="12065" marR="5080" algn="l">
              <a:lnSpc>
                <a:spcPct val="107900"/>
              </a:lnSpc>
              <a:spcBef>
                <a:spcPts val="95"/>
              </a:spcBef>
            </a:pPr>
            <a:r>
              <a:rPr lang="en-IN" sz="4400" spc="-165" dirty="0">
                <a:solidFill>
                  <a:srgbClr val="05365B"/>
                </a:solidFill>
                <a:latin typeface="Bahnschrift SemiLight" panose="020B0502040204020203" pitchFamily="34" charset="0"/>
              </a:rPr>
              <a:t>Knowledge</a:t>
            </a:r>
            <a:r>
              <a:rPr lang="en-IN" sz="4400" spc="-220" dirty="0">
                <a:solidFill>
                  <a:srgbClr val="05365B"/>
                </a:solidFill>
                <a:latin typeface="Bahnschrift SemiLight" panose="020B0502040204020203" pitchFamily="34" charset="0"/>
              </a:rPr>
              <a:t> </a:t>
            </a:r>
            <a:r>
              <a:rPr lang="en-IN" sz="4400" spc="-60" dirty="0">
                <a:solidFill>
                  <a:srgbClr val="00315D"/>
                </a:solidFill>
                <a:latin typeface="Bahnschrift SemiLight" panose="020B0502040204020203" pitchFamily="34" charset="0"/>
              </a:rPr>
              <a:t>Acquisition</a:t>
            </a:r>
            <a:r>
              <a:rPr lang="en-IN" sz="4400" spc="-160" dirty="0">
                <a:solidFill>
                  <a:srgbClr val="00315D"/>
                </a:solidFill>
                <a:latin typeface="Bahnschrift SemiLight" panose="020B0502040204020203" pitchFamily="34" charset="0"/>
              </a:rPr>
              <a:t> </a:t>
            </a:r>
          </a:p>
          <a:p>
            <a:pPr marL="12065" marR="5080" algn="l">
              <a:lnSpc>
                <a:spcPct val="107900"/>
              </a:lnSpc>
              <a:spcBef>
                <a:spcPts val="95"/>
              </a:spcBef>
            </a:pPr>
            <a:r>
              <a:rPr lang="en-IN" sz="4400" spc="-140" dirty="0">
                <a:solidFill>
                  <a:srgbClr val="013662"/>
                </a:solidFill>
                <a:latin typeface="Bahnschrift SemiLight" panose="020B0502040204020203" pitchFamily="34" charset="0"/>
              </a:rPr>
              <a:t>Knowledge</a:t>
            </a:r>
            <a:r>
              <a:rPr lang="en-IN" sz="4400" spc="-204" dirty="0">
                <a:solidFill>
                  <a:srgbClr val="013662"/>
                </a:solidFill>
                <a:latin typeface="Bahnschrift SemiLight" panose="020B0502040204020203" pitchFamily="34" charset="0"/>
              </a:rPr>
              <a:t> </a:t>
            </a:r>
            <a:r>
              <a:rPr lang="en-IN" sz="4400" spc="50" dirty="0">
                <a:solidFill>
                  <a:srgbClr val="003867"/>
                </a:solidFill>
                <a:latin typeface="Bahnschrift SemiLight" panose="020B0502040204020203" pitchFamily="34" charset="0"/>
              </a:rPr>
              <a:t>Representation</a:t>
            </a:r>
          </a:p>
          <a:p>
            <a:pPr marL="12065" marR="5080" algn="l">
              <a:lnSpc>
                <a:spcPct val="107900"/>
              </a:lnSpc>
              <a:spcBef>
                <a:spcPts val="95"/>
              </a:spcBef>
            </a:pPr>
            <a:r>
              <a:rPr lang="en-IN" sz="4400" spc="-40" dirty="0">
                <a:solidFill>
                  <a:srgbClr val="03365D"/>
                </a:solidFill>
                <a:latin typeface="Bahnschrift SemiLight" panose="020B0502040204020203" pitchFamily="34" charset="0"/>
                <a:cs typeface="Cambria"/>
              </a:rPr>
              <a:t>Implementation</a:t>
            </a:r>
            <a:r>
              <a:rPr lang="en-IN" sz="4400" spc="-455" dirty="0">
                <a:solidFill>
                  <a:srgbClr val="03365D"/>
                </a:solidFill>
                <a:latin typeface="Bahnschrift SemiLight" panose="020B0502040204020203" pitchFamily="34" charset="0"/>
                <a:cs typeface="Cambria"/>
              </a:rPr>
              <a:t> </a:t>
            </a:r>
            <a:r>
              <a:rPr lang="en-IN" sz="4400" dirty="0">
                <a:solidFill>
                  <a:srgbClr val="003869"/>
                </a:solidFill>
                <a:latin typeface="Bahnschrift SemiLight" panose="020B0502040204020203" pitchFamily="34" charset="0"/>
                <a:cs typeface="Cambria"/>
              </a:rPr>
              <a:t>(Building</a:t>
            </a:r>
            <a:r>
              <a:rPr lang="en-IN" sz="4400" spc="145" dirty="0">
                <a:solidFill>
                  <a:srgbClr val="003869"/>
                </a:solidFill>
                <a:latin typeface="Bahnschrift SemiLight" panose="020B0502040204020203" pitchFamily="34" charset="0"/>
                <a:cs typeface="Cambria"/>
              </a:rPr>
              <a:t> </a:t>
            </a:r>
            <a:r>
              <a:rPr lang="en-IN" sz="4400" dirty="0">
                <a:solidFill>
                  <a:srgbClr val="003D69"/>
                </a:solidFill>
                <a:latin typeface="Bahnschrift SemiLight" panose="020B0502040204020203" pitchFamily="34" charset="0"/>
                <a:cs typeface="Cambria"/>
              </a:rPr>
              <a:t>the</a:t>
            </a:r>
            <a:r>
              <a:rPr lang="en-IN" sz="4400" spc="-175" dirty="0">
                <a:solidFill>
                  <a:srgbClr val="003D69"/>
                </a:solidFill>
                <a:latin typeface="Bahnschrift SemiLight" panose="020B0502040204020203" pitchFamily="34" charset="0"/>
                <a:cs typeface="Cambria"/>
              </a:rPr>
              <a:t> </a:t>
            </a:r>
            <a:r>
              <a:rPr lang="en-IN" sz="4400" spc="-10" dirty="0">
                <a:solidFill>
                  <a:srgbClr val="003867"/>
                </a:solidFill>
                <a:latin typeface="Bahnschrift SemiLight" panose="020B0502040204020203" pitchFamily="34" charset="0"/>
                <a:cs typeface="Cambria"/>
              </a:rPr>
              <a:t>System)</a:t>
            </a:r>
          </a:p>
          <a:p>
            <a:pPr marL="12065" marR="5080" algn="l">
              <a:lnSpc>
                <a:spcPct val="107900"/>
              </a:lnSpc>
              <a:spcBef>
                <a:spcPts val="95"/>
              </a:spcBef>
            </a:pPr>
            <a:r>
              <a:rPr lang="en-IN" sz="4400" dirty="0">
                <a:solidFill>
                  <a:srgbClr val="01386B"/>
                </a:solidFill>
                <a:latin typeface="Bahnschrift SemiLight" panose="020B0502040204020203" pitchFamily="34" charset="0"/>
                <a:cs typeface="Cambria"/>
              </a:rPr>
              <a:t>Testing</a:t>
            </a:r>
            <a:r>
              <a:rPr lang="en-IN" sz="4400" spc="254" dirty="0">
                <a:solidFill>
                  <a:srgbClr val="01386B"/>
                </a:solidFill>
                <a:latin typeface="Bahnschrift SemiLight" panose="020B0502040204020203" pitchFamily="34" charset="0"/>
                <a:cs typeface="Cambria"/>
              </a:rPr>
              <a:t> </a:t>
            </a:r>
            <a:r>
              <a:rPr lang="en-IN" sz="4400" spc="-195" dirty="0">
                <a:solidFill>
                  <a:srgbClr val="003D72"/>
                </a:solidFill>
                <a:latin typeface="Bahnschrift SemiLight" panose="020B0502040204020203" pitchFamily="34" charset="0"/>
                <a:cs typeface="Cambria"/>
              </a:rPr>
              <a:t>&amp;</a:t>
            </a:r>
            <a:r>
              <a:rPr lang="en-IN" sz="4400" spc="-100" dirty="0">
                <a:solidFill>
                  <a:srgbClr val="003D72"/>
                </a:solidFill>
                <a:latin typeface="Bahnschrift SemiLight" panose="020B0502040204020203" pitchFamily="34" charset="0"/>
                <a:cs typeface="Cambria"/>
              </a:rPr>
              <a:t> </a:t>
            </a:r>
            <a:r>
              <a:rPr lang="en-IN" sz="4400" spc="-10" dirty="0">
                <a:solidFill>
                  <a:srgbClr val="003460"/>
                </a:solidFill>
                <a:latin typeface="Bahnschrift SemiLight" panose="020B0502040204020203" pitchFamily="34" charset="0"/>
                <a:cs typeface="Cambria"/>
              </a:rPr>
              <a:t>Validation</a:t>
            </a:r>
          </a:p>
          <a:p>
            <a:pPr marL="12065" marR="5080" algn="l">
              <a:lnSpc>
                <a:spcPct val="107900"/>
              </a:lnSpc>
              <a:spcBef>
                <a:spcPts val="95"/>
              </a:spcBef>
            </a:pPr>
            <a:r>
              <a:rPr lang="en-IN" sz="4400" dirty="0">
                <a:solidFill>
                  <a:srgbClr val="013F70"/>
                </a:solidFill>
                <a:latin typeface="Bahnschrift SemiLight" panose="020B0502040204020203" pitchFamily="34" charset="0"/>
                <a:cs typeface="Times New Roman"/>
              </a:rPr>
              <a:t>Deployment</a:t>
            </a:r>
            <a:r>
              <a:rPr lang="en-IN" sz="4400" spc="650" dirty="0">
                <a:solidFill>
                  <a:srgbClr val="013F70"/>
                </a:solidFill>
                <a:latin typeface="Bahnschrift SemiLight" panose="020B0502040204020203" pitchFamily="34" charset="0"/>
                <a:cs typeface="Times New Roman"/>
              </a:rPr>
              <a:t> </a:t>
            </a:r>
            <a:r>
              <a:rPr lang="en-IN" sz="4400" spc="-575" dirty="0">
                <a:solidFill>
                  <a:srgbClr val="003662"/>
                </a:solidFill>
                <a:latin typeface="Bahnschrift SemiLight" panose="020B0502040204020203" pitchFamily="34" charset="0"/>
                <a:cs typeface="Times New Roman"/>
              </a:rPr>
              <a:t>&amp;</a:t>
            </a:r>
            <a:r>
              <a:rPr lang="en-IN" sz="4400" spc="-105" dirty="0">
                <a:solidFill>
                  <a:srgbClr val="003662"/>
                </a:solidFill>
                <a:latin typeface="Bahnschrift SemiLight" panose="020B0502040204020203" pitchFamily="34" charset="0"/>
                <a:cs typeface="Times New Roman"/>
              </a:rPr>
              <a:t> </a:t>
            </a:r>
            <a:r>
              <a:rPr lang="en-IN" sz="4400" spc="135" dirty="0">
                <a:solidFill>
                  <a:srgbClr val="033A62"/>
                </a:solidFill>
                <a:latin typeface="Bahnschrift SemiLight" panose="020B0502040204020203" pitchFamily="34" charset="0"/>
                <a:cs typeface="Times New Roman"/>
              </a:rPr>
              <a:t>Maintenance</a:t>
            </a:r>
            <a:endParaRPr lang="en-IN" sz="4400" dirty="0">
              <a:latin typeface="Bahnschrift SemiLight" panose="020B0502040204020203" pitchFamily="34" charset="0"/>
              <a:cs typeface="Times New Roman"/>
            </a:endParaRPr>
          </a:p>
          <a:p>
            <a:pPr marL="4288155" marR="5080" indent="-4276090" algn="l">
              <a:lnSpc>
                <a:spcPct val="107900"/>
              </a:lnSpc>
              <a:spcBef>
                <a:spcPts val="95"/>
              </a:spcBef>
              <a:buFont typeface="+mj-lt"/>
              <a:buAutoNum type="arabicPeriod"/>
            </a:pPr>
            <a:endParaRPr lang="en-IN" sz="4400" dirty="0">
              <a:latin typeface="Cambria"/>
              <a:cs typeface="Cambria"/>
            </a:endParaRPr>
          </a:p>
          <a:p>
            <a:pPr marL="4288155" marR="5080" indent="-4276090" algn="l">
              <a:lnSpc>
                <a:spcPct val="107900"/>
              </a:lnSpc>
              <a:spcBef>
                <a:spcPts val="95"/>
              </a:spcBef>
            </a:pP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17650" y="3292475"/>
            <a:ext cx="14032230" cy="6603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2675" marR="701675" indent="-457200">
              <a:lnSpc>
                <a:spcPct val="1212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3200" b="1" spc="95" dirty="0">
                <a:solidFill>
                  <a:srgbClr val="1A1A1A"/>
                </a:solidFill>
                <a:latin typeface="Calibri"/>
                <a:cs typeface="Calibri"/>
              </a:rPr>
              <a:t>Is</a:t>
            </a:r>
            <a:r>
              <a:rPr sz="3200" b="1" spc="1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b="1" spc="110" dirty="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sz="3200" b="1" spc="8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b="1" spc="185" dirty="0">
                <a:solidFill>
                  <a:srgbClr val="181818"/>
                </a:solidFill>
                <a:latin typeface="Calibri"/>
                <a:cs typeface="Calibri"/>
              </a:rPr>
              <a:t>scope</a:t>
            </a:r>
            <a:r>
              <a:rPr sz="3200" b="1" spc="10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b="1" spc="55" dirty="0">
                <a:solidFill>
                  <a:srgbClr val="1F1F1F"/>
                </a:solidFill>
                <a:latin typeface="Calibri"/>
                <a:cs typeface="Calibri"/>
              </a:rPr>
              <a:t>clear</a:t>
            </a:r>
            <a:r>
              <a:rPr lang="en-IN" sz="3200" b="1" spc="295" dirty="0">
                <a:solidFill>
                  <a:srgbClr val="1F1F1F"/>
                </a:solidFill>
                <a:latin typeface="Calibri"/>
                <a:cs typeface="Calibri"/>
              </a:rPr>
              <a:t>? </a:t>
            </a:r>
            <a:r>
              <a:rPr sz="3200" spc="95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3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spc="105" dirty="0">
                <a:solidFill>
                  <a:srgbClr val="1A1A1A"/>
                </a:solidFill>
                <a:latin typeface="Calibri"/>
                <a:cs typeface="Calibri"/>
              </a:rPr>
              <a:t>problem</a:t>
            </a:r>
            <a:r>
              <a:rPr sz="3200" spc="1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spc="125" dirty="0">
                <a:solidFill>
                  <a:srgbClr val="181818"/>
                </a:solidFill>
                <a:latin typeface="Calibri"/>
                <a:cs typeface="Calibri"/>
              </a:rPr>
              <a:t>must</a:t>
            </a:r>
            <a:r>
              <a:rPr sz="3200" spc="114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114" dirty="0">
                <a:solidFill>
                  <a:srgbClr val="1D1D1D"/>
                </a:solidFill>
                <a:latin typeface="Calibri"/>
                <a:cs typeface="Calibri"/>
              </a:rPr>
              <a:t>be</a:t>
            </a:r>
            <a:r>
              <a:rPr sz="3200" spc="16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32323"/>
                </a:solidFill>
                <a:latin typeface="Calibri"/>
                <a:cs typeface="Calibri"/>
              </a:rPr>
              <a:t>narrow</a:t>
            </a:r>
            <a:r>
              <a:rPr sz="32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81818"/>
                </a:solidFill>
                <a:latin typeface="Calibri"/>
                <a:cs typeface="Calibri"/>
              </a:rPr>
              <a:t>(e.g.</a:t>
            </a:r>
            <a:r>
              <a:rPr lang="en-IN" sz="3200" spc="-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60" dirty="0">
                <a:solidFill>
                  <a:srgbClr val="111111"/>
                </a:solidFill>
                <a:latin typeface="Calibri"/>
                <a:cs typeface="Calibri"/>
              </a:rPr>
              <a:t>only</a:t>
            </a:r>
            <a:r>
              <a:rPr lang="en-IN" sz="3200" spc="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200" spc="105" dirty="0">
                <a:solidFill>
                  <a:srgbClr val="1D1D1D"/>
                </a:solidFill>
                <a:latin typeface="Calibri"/>
                <a:cs typeface="Calibri"/>
              </a:rPr>
              <a:t>diagnosing</a:t>
            </a:r>
            <a:r>
              <a:rPr sz="3200" spc="16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spc="110" dirty="0">
                <a:solidFill>
                  <a:srgbClr val="163854"/>
                </a:solidFill>
                <a:latin typeface="Calibri"/>
                <a:cs typeface="Calibri"/>
              </a:rPr>
              <a:t>a</a:t>
            </a:r>
            <a:r>
              <a:rPr sz="3200" spc="80" dirty="0">
                <a:solidFill>
                  <a:srgbClr val="163854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A1A1A"/>
                </a:solidFill>
                <a:latin typeface="Calibri"/>
                <a:cs typeface="Calibri"/>
              </a:rPr>
              <a:t>few</a:t>
            </a:r>
            <a:r>
              <a:rPr sz="3200" spc="-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spc="114" dirty="0">
                <a:solidFill>
                  <a:srgbClr val="1F1F1F"/>
                </a:solidFill>
                <a:latin typeface="Calibri"/>
                <a:cs typeface="Calibri"/>
              </a:rPr>
              <a:t>blood </a:t>
            </a:r>
            <a:r>
              <a:rPr sz="3200" spc="95" dirty="0">
                <a:solidFill>
                  <a:srgbClr val="181818"/>
                </a:solidFill>
                <a:latin typeface="Calibri"/>
                <a:cs typeface="Calibri"/>
              </a:rPr>
              <a:t>diseases).</a:t>
            </a:r>
            <a:endParaRPr lang="en-IN" sz="3200" dirty="0">
              <a:latin typeface="Calibri"/>
              <a:cs typeface="Calibri"/>
            </a:endParaRPr>
          </a:p>
          <a:p>
            <a:pPr marL="1082675" marR="701675" indent="-457200">
              <a:lnSpc>
                <a:spcPct val="1212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endParaRPr lang="en-IN" sz="3200" spc="-55" dirty="0">
              <a:solidFill>
                <a:srgbClr val="111111"/>
              </a:solidFill>
              <a:latin typeface="Calibri"/>
              <a:cs typeface="Calibri"/>
            </a:endParaRPr>
          </a:p>
          <a:p>
            <a:pPr marL="1082675" marR="701675" indent="-457200">
              <a:lnSpc>
                <a:spcPct val="1212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lang="en-IN" sz="3200" spc="-5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200" b="1" spc="-55" dirty="0">
                <a:solidFill>
                  <a:srgbClr val="111111"/>
                </a:solidFill>
                <a:latin typeface="Calibri"/>
                <a:cs typeface="Calibri"/>
              </a:rPr>
              <a:t>Are</a:t>
            </a:r>
            <a:r>
              <a:rPr sz="3200" b="1" spc="9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81818"/>
                </a:solidFill>
                <a:latin typeface="Calibri"/>
                <a:cs typeface="Calibri"/>
              </a:rPr>
              <a:t>experts</a:t>
            </a:r>
            <a:r>
              <a:rPr sz="3200" b="1" spc="19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11111"/>
                </a:solidFill>
                <a:latin typeface="Calibri"/>
                <a:cs typeface="Calibri"/>
              </a:rPr>
              <a:t>available</a:t>
            </a:r>
            <a:r>
              <a:rPr lang="en-IN" sz="3200" b="1" dirty="0">
                <a:solidFill>
                  <a:srgbClr val="111111"/>
                </a:solidFill>
                <a:latin typeface="Calibri"/>
                <a:cs typeface="Calibri"/>
              </a:rPr>
              <a:t>? </a:t>
            </a:r>
            <a:r>
              <a:rPr sz="3200" spc="-20" dirty="0">
                <a:solidFill>
                  <a:srgbClr val="1A1A1A"/>
                </a:solidFill>
                <a:latin typeface="Calibri"/>
                <a:cs typeface="Calibri"/>
              </a:rPr>
              <a:t>You</a:t>
            </a:r>
            <a:r>
              <a:rPr sz="3200" spc="-1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spc="50" dirty="0">
                <a:solidFill>
                  <a:srgbClr val="161616"/>
                </a:solidFill>
                <a:latin typeface="Calibri"/>
                <a:cs typeface="Calibri"/>
              </a:rPr>
              <a:t>must</a:t>
            </a:r>
            <a:r>
              <a:rPr sz="3200" spc="10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spc="50" dirty="0">
                <a:solidFill>
                  <a:srgbClr val="181818"/>
                </a:solidFill>
                <a:latin typeface="Calibri"/>
                <a:cs typeface="Calibri"/>
              </a:rPr>
              <a:t>be</a:t>
            </a:r>
            <a:r>
              <a:rPr sz="3200" spc="23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81818"/>
                </a:solidFill>
                <a:latin typeface="Calibri"/>
                <a:cs typeface="Calibri"/>
              </a:rPr>
              <a:t>able</a:t>
            </a:r>
            <a:r>
              <a:rPr sz="3200" spc="7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sz="3200" spc="7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D"/>
                </a:solidFill>
                <a:latin typeface="Calibri"/>
                <a:cs typeface="Calibri"/>
              </a:rPr>
              <a:t>work</a:t>
            </a:r>
            <a:r>
              <a:rPr sz="3200" spc="204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A1A1A"/>
                </a:solidFill>
                <a:latin typeface="Calibri"/>
                <a:cs typeface="Calibri"/>
              </a:rPr>
              <a:t>closely</a:t>
            </a:r>
            <a:r>
              <a:rPr sz="3200" spc="18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with</a:t>
            </a:r>
            <a:r>
              <a:rPr sz="3200" spc="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human</a:t>
            </a:r>
            <a:r>
              <a:rPr sz="3200" spc="5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F1F1F"/>
                </a:solidFill>
                <a:latin typeface="Calibri"/>
                <a:cs typeface="Calibri"/>
              </a:rPr>
              <a:t>experts</a:t>
            </a:r>
            <a:r>
              <a:rPr sz="3200" spc="18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F1F1F"/>
                </a:solidFill>
                <a:latin typeface="Calibri"/>
                <a:cs typeface="Calibri"/>
              </a:rPr>
              <a:t>who</a:t>
            </a:r>
            <a:r>
              <a:rPr sz="3200" spc="7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1A1A1A"/>
                </a:solidFill>
                <a:latin typeface="Calibri"/>
                <a:cs typeface="Calibri"/>
              </a:rPr>
              <a:t>know </a:t>
            </a:r>
            <a:r>
              <a:rPr sz="3200" dirty="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sz="3200" spc="14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81818"/>
                </a:solidFill>
                <a:latin typeface="Calibri"/>
                <a:cs typeface="Calibri"/>
              </a:rPr>
              <a:t>answers.</a:t>
            </a:r>
            <a:endParaRPr lang="en-IN" sz="3200" spc="-10" dirty="0">
              <a:latin typeface="Calibri"/>
              <a:cs typeface="Calibri"/>
            </a:endParaRPr>
          </a:p>
          <a:p>
            <a:pPr marL="1082675" marR="701675" indent="-457200">
              <a:lnSpc>
                <a:spcPct val="1212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endParaRPr lang="en-IN" sz="3200" spc="-10" dirty="0">
              <a:solidFill>
                <a:srgbClr val="151515"/>
              </a:solidFill>
              <a:latin typeface="Calibri"/>
              <a:cs typeface="Calibri"/>
            </a:endParaRPr>
          </a:p>
          <a:p>
            <a:pPr marL="1082675" marR="701675" indent="-457200">
              <a:lnSpc>
                <a:spcPct val="1212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3200" b="1" dirty="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sz="3200" b="1" spc="9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42424"/>
                </a:solidFill>
                <a:latin typeface="Calibri"/>
                <a:cs typeface="Calibri"/>
              </a:rPr>
              <a:t>it</a:t>
            </a:r>
            <a:r>
              <a:rPr sz="3200" b="1" spc="1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81818"/>
                </a:solidFill>
                <a:latin typeface="Calibri"/>
                <a:cs typeface="Calibri"/>
              </a:rPr>
              <a:t>logical</a:t>
            </a:r>
            <a:r>
              <a:rPr lang="en-IN" sz="3200" b="1" dirty="0">
                <a:solidFill>
                  <a:srgbClr val="181818"/>
                </a:solidFill>
                <a:latin typeface="Calibri"/>
                <a:cs typeface="Calibri"/>
              </a:rPr>
              <a:t>?</a:t>
            </a:r>
            <a:r>
              <a:rPr sz="3200" b="1" spc="3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32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problem</a:t>
            </a:r>
            <a:r>
              <a:rPr sz="3200" spc="204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31313"/>
                </a:solidFill>
                <a:latin typeface="Calibri"/>
                <a:cs typeface="Calibri"/>
              </a:rPr>
              <a:t>should</a:t>
            </a:r>
            <a:r>
              <a:rPr sz="3200" spc="12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A1A1A"/>
                </a:solidFill>
                <a:latin typeface="Calibri"/>
                <a:cs typeface="Calibri"/>
              </a:rPr>
              <a:t>require</a:t>
            </a:r>
            <a:r>
              <a:rPr sz="3200" spc="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A1A1A"/>
                </a:solidFill>
                <a:latin typeface="Calibri"/>
                <a:cs typeface="Calibri"/>
              </a:rPr>
              <a:t>logical</a:t>
            </a:r>
            <a:r>
              <a:rPr sz="3200" spc="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81818"/>
                </a:solidFill>
                <a:latin typeface="Calibri"/>
                <a:cs typeface="Calibri"/>
              </a:rPr>
              <a:t>thinking</a:t>
            </a:r>
            <a:r>
              <a:rPr sz="3200" spc="1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and</a:t>
            </a:r>
            <a:r>
              <a:rPr sz="3200" spc="5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rules,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not</a:t>
            </a:r>
            <a:r>
              <a:rPr sz="3200" spc="15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just</a:t>
            </a:r>
            <a:r>
              <a:rPr sz="3200" spc="1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simple</a:t>
            </a:r>
            <a:r>
              <a:rPr sz="3200" spc="-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45" dirty="0">
                <a:solidFill>
                  <a:srgbClr val="1D1D1D"/>
                </a:solidFill>
                <a:latin typeface="Calibri"/>
                <a:cs typeface="Calibri"/>
              </a:rPr>
              <a:t>math </a:t>
            </a:r>
            <a:r>
              <a:rPr sz="3200" dirty="0">
                <a:solidFill>
                  <a:srgbClr val="242424"/>
                </a:solidFill>
                <a:latin typeface="Calibri"/>
                <a:cs typeface="Calibri"/>
              </a:rPr>
              <a:t>or</a:t>
            </a:r>
            <a:r>
              <a:rPr sz="3200" spc="-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3200" spc="60" dirty="0">
                <a:solidFill>
                  <a:srgbClr val="212121"/>
                </a:solidFill>
                <a:latin typeface="Calibri"/>
                <a:cs typeface="Calibri"/>
              </a:rPr>
              <a:t>common</a:t>
            </a:r>
            <a:r>
              <a:rPr sz="3200" spc="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1616"/>
                </a:solidFill>
                <a:latin typeface="Calibri"/>
                <a:cs typeface="Calibri"/>
              </a:rPr>
              <a:t>sense.</a:t>
            </a:r>
            <a:endParaRPr lang="en-IN" sz="3200" spc="-10" dirty="0">
              <a:solidFill>
                <a:srgbClr val="034B77"/>
              </a:solidFill>
              <a:latin typeface="Calibri"/>
              <a:cs typeface="Calibri"/>
            </a:endParaRPr>
          </a:p>
          <a:p>
            <a:pPr marL="1082675" marR="701675" indent="-457200">
              <a:lnSpc>
                <a:spcPct val="1212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endParaRPr lang="en-IN" sz="3200" spc="-10" dirty="0">
              <a:solidFill>
                <a:srgbClr val="034B77"/>
              </a:solidFill>
              <a:latin typeface="Calibri"/>
              <a:cs typeface="Calibri"/>
            </a:endParaRPr>
          </a:p>
          <a:p>
            <a:pPr marL="1082675" marR="701675" indent="-457200">
              <a:lnSpc>
                <a:spcPct val="1212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3200" b="1" dirty="0">
                <a:solidFill>
                  <a:srgbClr val="0F0F0F"/>
                </a:solidFill>
                <a:latin typeface="Calibri"/>
                <a:cs typeface="Calibri"/>
              </a:rPr>
              <a:t>Is</a:t>
            </a:r>
            <a:r>
              <a:rPr sz="3200" b="1" spc="7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82828"/>
                </a:solidFill>
                <a:latin typeface="Calibri"/>
                <a:cs typeface="Calibri"/>
              </a:rPr>
              <a:t>it</a:t>
            </a:r>
            <a:r>
              <a:rPr sz="3200" b="1" spc="19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12121"/>
                </a:solidFill>
                <a:latin typeface="Calibri"/>
                <a:cs typeface="Calibri"/>
              </a:rPr>
              <a:t>worth</a:t>
            </a:r>
            <a:r>
              <a:rPr sz="3200" b="1" spc="19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sz="3200" b="1" spc="6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51515"/>
                </a:solidFill>
                <a:latin typeface="Calibri"/>
                <a:cs typeface="Calibri"/>
              </a:rPr>
              <a:t>time</a:t>
            </a:r>
            <a:r>
              <a:rPr lang="en-IN" sz="3200" b="1" dirty="0">
                <a:solidFill>
                  <a:srgbClr val="151515"/>
                </a:solidFill>
                <a:latin typeface="Calibri"/>
                <a:cs typeface="Calibri"/>
              </a:rPr>
              <a:t>? </a:t>
            </a:r>
            <a:r>
              <a:rPr sz="3200" dirty="0">
                <a:solidFill>
                  <a:srgbClr val="282828"/>
                </a:solidFill>
                <a:latin typeface="Calibri"/>
                <a:cs typeface="Calibri"/>
              </a:rPr>
              <a:t>The</a:t>
            </a:r>
            <a:r>
              <a:rPr sz="3200" spc="-4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12121"/>
                </a:solidFill>
                <a:latin typeface="Calibri"/>
                <a:cs typeface="Calibri"/>
              </a:rPr>
              <a:t>problem</a:t>
            </a:r>
            <a:r>
              <a:rPr sz="3200" spc="18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F1F1F"/>
                </a:solidFill>
                <a:latin typeface="Calibri"/>
                <a:cs typeface="Calibri"/>
              </a:rPr>
              <a:t>should</a:t>
            </a:r>
            <a:r>
              <a:rPr sz="3200" spc="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be</a:t>
            </a:r>
            <a:r>
              <a:rPr sz="3200" spc="19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spc="55" dirty="0">
                <a:solidFill>
                  <a:srgbClr val="1F1F1F"/>
                </a:solidFill>
                <a:latin typeface="Calibri"/>
                <a:cs typeface="Calibri"/>
              </a:rPr>
              <a:t>hard</a:t>
            </a:r>
            <a:r>
              <a:rPr sz="3200" spc="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31313"/>
                </a:solidFill>
                <a:latin typeface="Calibri"/>
                <a:cs typeface="Calibri"/>
              </a:rPr>
              <a:t>enough</a:t>
            </a:r>
            <a:r>
              <a:rPr sz="3200" spc="2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to</a:t>
            </a:r>
            <a:r>
              <a:rPr sz="3200" spc="-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need</a:t>
            </a:r>
            <a:r>
              <a:rPr sz="3200" spc="114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spc="50" dirty="0">
                <a:solidFill>
                  <a:srgbClr val="262626"/>
                </a:solidFill>
                <a:latin typeface="Calibri"/>
                <a:cs typeface="Calibri"/>
              </a:rPr>
              <a:t>an</a:t>
            </a:r>
            <a:r>
              <a:rPr sz="3200" spc="-114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200" spc="50" dirty="0">
                <a:solidFill>
                  <a:srgbClr val="1F1F1F"/>
                </a:solidFill>
                <a:latin typeface="Calibri"/>
                <a:cs typeface="Calibri"/>
              </a:rPr>
              <a:t>ES,</a:t>
            </a:r>
            <a:r>
              <a:rPr sz="3200" spc="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sz="3200" spc="1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3200" spc="5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A1A1A"/>
                </a:solidFill>
                <a:latin typeface="Calibri"/>
                <a:cs typeface="Calibri"/>
              </a:rPr>
              <a:t>solution </a:t>
            </a:r>
            <a:r>
              <a:rPr sz="3200" spc="65" dirty="0">
                <a:solidFill>
                  <a:srgbClr val="1D1D1D"/>
                </a:solidFill>
                <a:latin typeface="Calibri"/>
                <a:cs typeface="Calibri"/>
              </a:rPr>
              <a:t>must</a:t>
            </a:r>
            <a:r>
              <a:rPr sz="3200" spc="5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spc="65" dirty="0">
                <a:solidFill>
                  <a:srgbClr val="212121"/>
                </a:solidFill>
                <a:latin typeface="Calibri"/>
                <a:cs typeface="Calibri"/>
              </a:rPr>
              <a:t>be</a:t>
            </a:r>
            <a:r>
              <a:rPr sz="3200" spc="1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D"/>
                </a:solidFill>
                <a:latin typeface="Calibri"/>
                <a:cs typeface="Calibri"/>
              </a:rPr>
              <a:t>highly</a:t>
            </a:r>
            <a:r>
              <a:rPr sz="3200" spc="19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C1C1C"/>
                </a:solidFill>
                <a:latin typeface="Calibri"/>
                <a:cs typeface="Calibri"/>
              </a:rPr>
              <a:t>valuable.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7C580-3C95-8E09-AFF9-17A9EE974A46}"/>
              </a:ext>
            </a:extLst>
          </p:cNvPr>
          <p:cNvSpPr txBox="1"/>
          <p:nvPr/>
        </p:nvSpPr>
        <p:spPr>
          <a:xfrm>
            <a:off x="1974850" y="1158875"/>
            <a:ext cx="1005114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955">
              <a:lnSpc>
                <a:spcPct val="100000"/>
              </a:lnSpc>
              <a:spcBef>
                <a:spcPts val="95"/>
              </a:spcBef>
            </a:pPr>
            <a:r>
              <a:rPr lang="en-US" sz="6600" spc="-65" dirty="0">
                <a:solidFill>
                  <a:srgbClr val="003360"/>
                </a:solidFill>
                <a:latin typeface="Cambria"/>
                <a:cs typeface="Cambria"/>
              </a:rPr>
              <a:t>Step</a:t>
            </a:r>
            <a:r>
              <a:rPr lang="en-US" sz="6600" spc="-390" dirty="0">
                <a:solidFill>
                  <a:srgbClr val="003360"/>
                </a:solidFill>
                <a:latin typeface="Cambria"/>
                <a:cs typeface="Cambria"/>
              </a:rPr>
              <a:t> </a:t>
            </a:r>
            <a:r>
              <a:rPr lang="en-US" sz="6600" spc="-430" dirty="0">
                <a:solidFill>
                  <a:srgbClr val="003862"/>
                </a:solidFill>
                <a:latin typeface="Cambria"/>
                <a:cs typeface="Cambria"/>
              </a:rPr>
              <a:t>1:</a:t>
            </a:r>
            <a:r>
              <a:rPr lang="en-US" sz="6600" spc="-225" dirty="0">
                <a:solidFill>
                  <a:srgbClr val="003862"/>
                </a:solidFill>
                <a:latin typeface="Cambria"/>
                <a:cs typeface="Cambria"/>
              </a:rPr>
              <a:t> </a:t>
            </a:r>
            <a:r>
              <a:rPr lang="en-US" sz="6600" dirty="0">
                <a:solidFill>
                  <a:srgbClr val="003860"/>
                </a:solidFill>
                <a:latin typeface="Cambria"/>
                <a:cs typeface="Cambria"/>
              </a:rPr>
              <a:t>Define</a:t>
            </a:r>
            <a:r>
              <a:rPr lang="en-US" sz="6600" spc="105" dirty="0">
                <a:solidFill>
                  <a:srgbClr val="003860"/>
                </a:solidFill>
                <a:latin typeface="Cambria"/>
                <a:cs typeface="Cambria"/>
              </a:rPr>
              <a:t> </a:t>
            </a:r>
            <a:r>
              <a:rPr lang="en-US" sz="6600" dirty="0">
                <a:solidFill>
                  <a:srgbClr val="013864"/>
                </a:solidFill>
                <a:latin typeface="Cambria"/>
                <a:cs typeface="Cambria"/>
              </a:rPr>
              <a:t>the</a:t>
            </a:r>
            <a:r>
              <a:rPr lang="en-US" sz="6600" spc="-140" dirty="0">
                <a:solidFill>
                  <a:srgbClr val="013864"/>
                </a:solidFill>
                <a:latin typeface="Cambria"/>
                <a:cs typeface="Cambria"/>
              </a:rPr>
              <a:t> </a:t>
            </a:r>
            <a:r>
              <a:rPr lang="en-US" sz="6600" spc="-85" dirty="0">
                <a:solidFill>
                  <a:srgbClr val="003862"/>
                </a:solidFill>
                <a:latin typeface="Cambria"/>
                <a:cs typeface="Cambria"/>
              </a:rPr>
              <a:t>Problem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948" y="5368261"/>
            <a:ext cx="1240799" cy="1798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5850" y="5368261"/>
            <a:ext cx="1335037" cy="1798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9990" y="5399674"/>
            <a:ext cx="2269564" cy="17669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0569" y="538932"/>
            <a:ext cx="16619855" cy="10323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600" spc="-90" dirty="0">
                <a:solidFill>
                  <a:srgbClr val="003360"/>
                </a:solidFill>
              </a:rPr>
              <a:t>Step</a:t>
            </a:r>
            <a:r>
              <a:rPr sz="6600" spc="-325" dirty="0">
                <a:solidFill>
                  <a:srgbClr val="003360"/>
                </a:solidFill>
              </a:rPr>
              <a:t> </a:t>
            </a:r>
            <a:r>
              <a:rPr sz="6600" spc="-250" dirty="0">
                <a:solidFill>
                  <a:srgbClr val="053864"/>
                </a:solidFill>
              </a:rPr>
              <a:t>2:</a:t>
            </a:r>
            <a:r>
              <a:rPr sz="6600" spc="-455" dirty="0">
                <a:solidFill>
                  <a:srgbClr val="053864"/>
                </a:solidFill>
              </a:rPr>
              <a:t> </a:t>
            </a:r>
            <a:r>
              <a:rPr sz="6600" spc="-165" dirty="0">
                <a:solidFill>
                  <a:srgbClr val="05365B"/>
                </a:solidFill>
              </a:rPr>
              <a:t>Knowledge</a:t>
            </a:r>
            <a:r>
              <a:rPr sz="6600" spc="-220" dirty="0">
                <a:solidFill>
                  <a:srgbClr val="05365B"/>
                </a:solidFill>
              </a:rPr>
              <a:t> </a:t>
            </a:r>
            <a:r>
              <a:rPr sz="6600" spc="-60" dirty="0">
                <a:solidFill>
                  <a:srgbClr val="00315D"/>
                </a:solidFill>
              </a:rPr>
              <a:t>Acquisition</a:t>
            </a:r>
            <a:r>
              <a:rPr sz="6600" spc="-160" dirty="0">
                <a:solidFill>
                  <a:srgbClr val="00315D"/>
                </a:solidFill>
              </a:rPr>
              <a:t> </a:t>
            </a:r>
            <a:r>
              <a:rPr sz="6600" spc="-70" dirty="0">
                <a:solidFill>
                  <a:srgbClr val="003A6B"/>
                </a:solidFill>
              </a:rPr>
              <a:t>(Getting</a:t>
            </a:r>
            <a:r>
              <a:rPr sz="6600" spc="-210" dirty="0">
                <a:solidFill>
                  <a:srgbClr val="003A6B"/>
                </a:solidFill>
              </a:rPr>
              <a:t> </a:t>
            </a:r>
            <a:r>
              <a:rPr sz="6600" spc="114" dirty="0">
                <a:solidFill>
                  <a:srgbClr val="054274"/>
                </a:solidFill>
              </a:rPr>
              <a:t>the</a:t>
            </a:r>
            <a:r>
              <a:rPr sz="6600" spc="-370" dirty="0">
                <a:solidFill>
                  <a:srgbClr val="054274"/>
                </a:solidFill>
              </a:rPr>
              <a:t> </a:t>
            </a:r>
            <a:r>
              <a:rPr sz="6600" spc="-120" dirty="0">
                <a:solidFill>
                  <a:srgbClr val="033660"/>
                </a:solidFill>
              </a:rPr>
              <a:t>Facts)</a:t>
            </a:r>
            <a:endParaRPr sz="6600" dirty="0"/>
          </a:p>
        </p:txBody>
      </p:sp>
      <p:sp>
        <p:nvSpPr>
          <p:cNvPr id="7" name="object 7"/>
          <p:cNvSpPr txBox="1"/>
          <p:nvPr/>
        </p:nvSpPr>
        <p:spPr>
          <a:xfrm>
            <a:off x="596900" y="7559675"/>
            <a:ext cx="7520157" cy="4680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00400" algn="l"/>
              </a:tabLst>
            </a:pPr>
            <a:r>
              <a:rPr lang="en-IN" sz="2950" spc="300" dirty="0">
                <a:solidFill>
                  <a:srgbClr val="003A66"/>
                </a:solidFill>
                <a:latin typeface="Times New Roman"/>
                <a:cs typeface="Times New Roman"/>
              </a:rPr>
              <a:t>Of the </a:t>
            </a:r>
            <a:r>
              <a:rPr sz="2950" spc="300" dirty="0">
                <a:solidFill>
                  <a:srgbClr val="003A66"/>
                </a:solidFill>
                <a:latin typeface="Times New Roman"/>
                <a:cs typeface="Times New Roman"/>
              </a:rPr>
              <a:t>project</a:t>
            </a:r>
            <a:r>
              <a:rPr sz="2950" spc="250" dirty="0">
                <a:solidFill>
                  <a:srgbClr val="003A66"/>
                </a:solidFill>
                <a:latin typeface="Times New Roman"/>
                <a:cs typeface="Times New Roman"/>
              </a:rPr>
              <a:t> </a:t>
            </a:r>
            <a:r>
              <a:rPr sz="2950" spc="325" dirty="0">
                <a:solidFill>
                  <a:srgbClr val="003B6E"/>
                </a:solidFill>
                <a:latin typeface="Times New Roman"/>
                <a:cs typeface="Times New Roman"/>
              </a:rPr>
              <a:t>time</a:t>
            </a:r>
            <a:r>
              <a:rPr sz="2950" spc="100" dirty="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sz="2950" spc="315" dirty="0">
                <a:solidFill>
                  <a:srgbClr val="01385D"/>
                </a:solidFill>
                <a:latin typeface="Times New Roman"/>
                <a:cs typeface="Times New Roman"/>
              </a:rPr>
              <a:t>can</a:t>
            </a:r>
            <a:r>
              <a:rPr sz="2950" dirty="0">
                <a:solidFill>
                  <a:srgbClr val="01385D"/>
                </a:solidFill>
                <a:latin typeface="Times New Roman"/>
                <a:cs typeface="Times New Roman"/>
              </a:rPr>
              <a:t>	</a:t>
            </a:r>
            <a:r>
              <a:rPr sz="2950" spc="345" dirty="0">
                <a:solidFill>
                  <a:srgbClr val="003666"/>
                </a:solidFill>
                <a:latin typeface="Times New Roman"/>
                <a:cs typeface="Times New Roman"/>
              </a:rPr>
              <a:t>be</a:t>
            </a:r>
            <a:r>
              <a:rPr sz="2950" spc="10" dirty="0">
                <a:solidFill>
                  <a:srgbClr val="003666"/>
                </a:solidFill>
                <a:latin typeface="Times New Roman"/>
                <a:cs typeface="Times New Roman"/>
              </a:rPr>
              <a:t> </a:t>
            </a:r>
            <a:r>
              <a:rPr sz="2950" spc="405" dirty="0">
                <a:solidFill>
                  <a:srgbClr val="01385B"/>
                </a:solidFill>
                <a:latin typeface="Times New Roman"/>
                <a:cs typeface="Times New Roman"/>
              </a:rPr>
              <a:t>spent</a:t>
            </a:r>
            <a:r>
              <a:rPr sz="2950" spc="305" dirty="0">
                <a:solidFill>
                  <a:srgbClr val="01385B"/>
                </a:solidFill>
                <a:latin typeface="Times New Roman"/>
                <a:cs typeface="Times New Roman"/>
              </a:rPr>
              <a:t> </a:t>
            </a:r>
            <a:r>
              <a:rPr sz="2950" spc="254" dirty="0">
                <a:solidFill>
                  <a:srgbClr val="003A66"/>
                </a:solidFill>
                <a:latin typeface="Times New Roman"/>
                <a:cs typeface="Times New Roman"/>
              </a:rPr>
              <a:t>here.</a:t>
            </a:r>
            <a:endParaRPr sz="2950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31818-823E-A901-DC75-F3A34FFE9DD9}"/>
              </a:ext>
            </a:extLst>
          </p:cNvPr>
          <p:cNvSpPr txBox="1"/>
          <p:nvPr/>
        </p:nvSpPr>
        <p:spPr>
          <a:xfrm>
            <a:off x="7918450" y="3597276"/>
            <a:ext cx="11499702" cy="6150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Knowledge?</a:t>
            </a:r>
          </a:p>
          <a:p>
            <a:pPr algn="l">
              <a:lnSpc>
                <a:spcPts val="2250"/>
              </a:lnSpc>
              <a:buNone/>
            </a:pPr>
            <a:endParaRPr lang="en-US" sz="2800" b="0" i="0" dirty="0">
              <a:effectLst/>
              <a:latin typeface="Verdana" panose="020B0604030504040204" pitchFamily="34" charset="0"/>
            </a:endParaRPr>
          </a:p>
          <a:p>
            <a:pPr algn="l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data is collection of facts. The information is organized as data and facts about the task domain.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inherit"/>
              </a:rPr>
              <a:t>Data, information,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inherit"/>
              </a:rPr>
              <a:t>past experience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combined together are termed as knowledge.</a:t>
            </a:r>
          </a:p>
          <a:p>
            <a:pPr algn="l">
              <a:buNone/>
            </a:pPr>
            <a:endParaRPr lang="en-US" sz="40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250"/>
              </a:lnSpc>
              <a:buNone/>
            </a:pPr>
            <a:r>
              <a:rPr lang="en-US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Knowledge Base</a:t>
            </a:r>
          </a:p>
          <a:p>
            <a:pPr algn="l">
              <a:lnSpc>
                <a:spcPts val="2250"/>
              </a:lnSpc>
              <a:buNone/>
            </a:pPr>
            <a:endParaRPr lang="en-US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knowledge base of an ES is a store of both, factual and heuristic knowledge.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i="0" dirty="0">
                <a:solidFill>
                  <a:srgbClr val="000000"/>
                </a:solidFill>
                <a:effectLst/>
                <a:latin typeface="inherit"/>
              </a:rPr>
              <a:t>Factual Knowledge: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It is the information widely accepted by the Knowledge Engineers and scholars in the task domain.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i="0" dirty="0">
                <a:solidFill>
                  <a:srgbClr val="000000"/>
                </a:solidFill>
                <a:effectLst/>
                <a:latin typeface="inherit"/>
              </a:rPr>
              <a:t>Heuristic Knowledge: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It is about practice, accurate judgment, ones ability of evaluation, and guessing.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94DD04-068C-2B58-6C7D-AC41A477D166}"/>
              </a:ext>
            </a:extLst>
          </p:cNvPr>
          <p:cNvSpPr txBox="1"/>
          <p:nvPr/>
        </p:nvSpPr>
        <p:spPr>
          <a:xfrm>
            <a:off x="596900" y="1869643"/>
            <a:ext cx="181924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success of any expert system majorly depends on the quality, completeness, and accuracy of the information stored in the knowledge base.</a:t>
            </a:r>
            <a:endParaRPr lang="en-IN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89250" y="1793448"/>
            <a:ext cx="8513445" cy="0"/>
          </a:xfrm>
          <a:custGeom>
            <a:avLst/>
            <a:gdLst/>
            <a:ahLst/>
            <a:cxnLst/>
            <a:rect l="l" t="t" r="r" b="b"/>
            <a:pathLst>
              <a:path w="8513445">
                <a:moveTo>
                  <a:pt x="0" y="0"/>
                </a:moveTo>
                <a:lnTo>
                  <a:pt x="8512830" y="0"/>
                </a:lnTo>
              </a:path>
            </a:pathLst>
          </a:custGeom>
          <a:ln w="23559">
            <a:solidFill>
              <a:srgbClr val="0F4B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150" spc="-90" dirty="0">
                <a:solidFill>
                  <a:srgbClr val="003360"/>
                </a:solidFill>
              </a:rPr>
              <a:t>Step</a:t>
            </a:r>
            <a:r>
              <a:rPr sz="6150" spc="-380" dirty="0">
                <a:solidFill>
                  <a:srgbClr val="003360"/>
                </a:solidFill>
              </a:rPr>
              <a:t> </a:t>
            </a:r>
            <a:r>
              <a:rPr sz="6150" spc="-365" dirty="0">
                <a:solidFill>
                  <a:srgbClr val="033864"/>
                </a:solidFill>
              </a:rPr>
              <a:t>3:</a:t>
            </a:r>
            <a:r>
              <a:rPr sz="6150" spc="-405" dirty="0">
                <a:solidFill>
                  <a:srgbClr val="033864"/>
                </a:solidFill>
              </a:rPr>
              <a:t> </a:t>
            </a:r>
            <a:r>
              <a:rPr sz="6150" spc="-140" dirty="0">
                <a:solidFill>
                  <a:srgbClr val="013662"/>
                </a:solidFill>
              </a:rPr>
              <a:t>Knowledge</a:t>
            </a:r>
            <a:r>
              <a:rPr sz="6150" spc="-204" dirty="0">
                <a:solidFill>
                  <a:srgbClr val="013662"/>
                </a:solidFill>
              </a:rPr>
              <a:t> </a:t>
            </a:r>
            <a:r>
              <a:rPr sz="6150" spc="50" dirty="0">
                <a:solidFill>
                  <a:srgbClr val="003867"/>
                </a:solidFill>
              </a:rPr>
              <a:t>Representation</a:t>
            </a:r>
            <a:r>
              <a:rPr sz="6150" spc="-625" dirty="0">
                <a:solidFill>
                  <a:srgbClr val="003867"/>
                </a:solidFill>
              </a:rPr>
              <a:t> </a:t>
            </a:r>
            <a:r>
              <a:rPr sz="6150" spc="-10" dirty="0">
                <a:solidFill>
                  <a:srgbClr val="003D6D"/>
                </a:solidFill>
              </a:rPr>
              <a:t>(Writing</a:t>
            </a:r>
            <a:r>
              <a:rPr sz="6150" spc="-155" dirty="0">
                <a:solidFill>
                  <a:srgbClr val="003D6D"/>
                </a:solidFill>
              </a:rPr>
              <a:t> </a:t>
            </a:r>
            <a:r>
              <a:rPr sz="6150" spc="114" dirty="0">
                <a:solidFill>
                  <a:srgbClr val="0C4167"/>
                </a:solidFill>
              </a:rPr>
              <a:t>the</a:t>
            </a:r>
            <a:r>
              <a:rPr sz="6150" spc="-355" dirty="0">
                <a:solidFill>
                  <a:srgbClr val="0C4167"/>
                </a:solidFill>
              </a:rPr>
              <a:t> </a:t>
            </a:r>
            <a:r>
              <a:rPr sz="6150" spc="-125" dirty="0">
                <a:solidFill>
                  <a:srgbClr val="033660"/>
                </a:solidFill>
              </a:rPr>
              <a:t>Rules)</a:t>
            </a:r>
            <a:endParaRPr sz="6150" dirty="0"/>
          </a:p>
        </p:txBody>
      </p:sp>
      <p:sp>
        <p:nvSpPr>
          <p:cNvPr id="4" name="object 4"/>
          <p:cNvSpPr txBox="1"/>
          <p:nvPr/>
        </p:nvSpPr>
        <p:spPr>
          <a:xfrm>
            <a:off x="1143543" y="4283075"/>
            <a:ext cx="8078394" cy="5975610"/>
          </a:xfrm>
          <a:prstGeom prst="rect">
            <a:avLst/>
          </a:prstGeom>
          <a:ln w="23559">
            <a:solidFill>
              <a:srgbClr val="0F4870"/>
            </a:solidFill>
          </a:ln>
        </p:spPr>
        <p:txBody>
          <a:bodyPr vert="horz" wrap="square" lIns="0" tIns="460375" rIns="0" bIns="0" rtlCol="0">
            <a:spAutoFit/>
          </a:bodyPr>
          <a:lstStyle/>
          <a:p>
            <a:pPr marL="635635">
              <a:lnSpc>
                <a:spcPts val="5355"/>
              </a:lnSpc>
              <a:spcBef>
                <a:spcPts val="3625"/>
              </a:spcBef>
            </a:pPr>
            <a:r>
              <a:rPr sz="4750" b="1" spc="-305" dirty="0">
                <a:solidFill>
                  <a:srgbClr val="074D7E"/>
                </a:solidFill>
                <a:latin typeface="Times New Roman"/>
                <a:cs typeface="Times New Roman"/>
              </a:rPr>
              <a:t>IF-</a:t>
            </a:r>
            <a:r>
              <a:rPr sz="4750" b="1" spc="-475" dirty="0">
                <a:solidFill>
                  <a:srgbClr val="074D7E"/>
                </a:solidFill>
                <a:latin typeface="Times New Roman"/>
                <a:cs typeface="Times New Roman"/>
              </a:rPr>
              <a:t>THEN</a:t>
            </a:r>
            <a:r>
              <a:rPr sz="4750" b="1" spc="45" dirty="0">
                <a:solidFill>
                  <a:srgbClr val="074D7E"/>
                </a:solidFill>
                <a:latin typeface="Times New Roman"/>
                <a:cs typeface="Times New Roman"/>
              </a:rPr>
              <a:t> </a:t>
            </a:r>
            <a:r>
              <a:rPr sz="4750" b="1" spc="-120" dirty="0">
                <a:solidFill>
                  <a:srgbClr val="035082"/>
                </a:solidFill>
                <a:latin typeface="Times New Roman"/>
                <a:cs typeface="Times New Roman"/>
              </a:rPr>
              <a:t>Rules</a:t>
            </a:r>
            <a:r>
              <a:rPr sz="4750" b="1" spc="-145" dirty="0">
                <a:solidFill>
                  <a:srgbClr val="035082"/>
                </a:solidFill>
                <a:latin typeface="Times New Roman"/>
                <a:cs typeface="Times New Roman"/>
              </a:rPr>
              <a:t> </a:t>
            </a:r>
            <a:r>
              <a:rPr sz="4750" b="1" spc="-45" dirty="0">
                <a:solidFill>
                  <a:srgbClr val="0A4F8A"/>
                </a:solidFill>
                <a:latin typeface="Times New Roman"/>
                <a:cs typeface="Times New Roman"/>
              </a:rPr>
              <a:t>(Production</a:t>
            </a:r>
            <a:endParaRPr sz="4750" dirty="0">
              <a:latin typeface="Times New Roman"/>
              <a:cs typeface="Times New Roman"/>
            </a:endParaRPr>
          </a:p>
          <a:p>
            <a:pPr marL="636905">
              <a:lnSpc>
                <a:spcPts val="5355"/>
              </a:lnSpc>
            </a:pPr>
            <a:r>
              <a:rPr sz="4750" spc="-10" dirty="0">
                <a:solidFill>
                  <a:srgbClr val="054F82"/>
                </a:solidFill>
                <a:latin typeface="Times New Roman"/>
                <a:cs typeface="Times New Roman"/>
              </a:rPr>
              <a:t>Rules)</a:t>
            </a:r>
            <a:endParaRPr sz="4750" dirty="0">
              <a:latin typeface="Times New Roman"/>
              <a:cs typeface="Times New Roman"/>
            </a:endParaRPr>
          </a:p>
          <a:p>
            <a:pPr marL="624205" marR="976630" indent="12700">
              <a:lnSpc>
                <a:spcPct val="113599"/>
              </a:lnSpc>
              <a:spcBef>
                <a:spcPts val="1889"/>
              </a:spcBef>
            </a:pP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This</a:t>
            </a:r>
            <a:r>
              <a:rPr sz="2400" spc="8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is</a:t>
            </a:r>
            <a:r>
              <a:rPr sz="2400" spc="23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the</a:t>
            </a:r>
            <a:r>
              <a:rPr sz="2400" spc="1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spc="5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most</a:t>
            </a:r>
            <a:r>
              <a:rPr sz="2400" spc="16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common</a:t>
            </a:r>
            <a:r>
              <a:rPr sz="2400" spc="16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and</a:t>
            </a:r>
            <a:r>
              <a:rPr sz="2400" spc="10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simplest</a:t>
            </a:r>
            <a:r>
              <a:rPr sz="2400" spc="24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way</a:t>
            </a:r>
            <a:r>
              <a:rPr sz="2400" spc="21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to</a:t>
            </a:r>
            <a:r>
              <a:rPr sz="2400" spc="15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spc="-2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store </a:t>
            </a:r>
            <a:r>
              <a:rPr sz="2400" spc="-1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knowledge.</a:t>
            </a:r>
            <a:r>
              <a:rPr sz="2400" spc="17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It's</a:t>
            </a:r>
            <a:r>
              <a:rPr sz="2400" spc="1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spc="10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a</a:t>
            </a:r>
            <a:r>
              <a:rPr sz="2400" spc="2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series</a:t>
            </a:r>
            <a:r>
              <a:rPr sz="2400" spc="12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of</a:t>
            </a:r>
            <a:r>
              <a:rPr sz="2400" spc="15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conditional</a:t>
            </a:r>
            <a:r>
              <a:rPr sz="2400" spc="2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statements</a:t>
            </a:r>
            <a:r>
              <a:rPr sz="2400" spc="25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spc="-2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that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the</a:t>
            </a:r>
            <a:r>
              <a:rPr sz="2400" spc="13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system</a:t>
            </a:r>
            <a:r>
              <a:rPr sz="2400" spc="24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spc="7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can</a:t>
            </a:r>
            <a:r>
              <a:rPr sz="2400" spc="45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Bahnschrift" panose="020B0502040204020203" pitchFamily="34" charset="0"/>
                <a:cs typeface="Calibri"/>
              </a:rPr>
              <a:t>follow.</a:t>
            </a:r>
            <a:endParaRPr lang="en-IN" sz="2400" dirty="0">
              <a:solidFill>
                <a:schemeClr val="tx1"/>
              </a:solidFill>
              <a:latin typeface="Bahnschrift" panose="020B0502040204020203" pitchFamily="34" charset="0"/>
              <a:cs typeface="Calibri"/>
            </a:endParaRPr>
          </a:p>
          <a:p>
            <a:pPr marL="624205" marR="976630" indent="12700">
              <a:lnSpc>
                <a:spcPct val="113599"/>
              </a:lnSpc>
              <a:spcBef>
                <a:spcPts val="1889"/>
              </a:spcBef>
            </a:pPr>
            <a:r>
              <a:rPr sz="2400" spc="185" dirty="0" err="1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Examp</a:t>
            </a:r>
            <a:r>
              <a:rPr lang="en-IN" sz="2400" spc="18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l</a:t>
            </a:r>
            <a:r>
              <a:rPr sz="2400" spc="18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e(Med</a:t>
            </a:r>
            <a:r>
              <a:rPr lang="en-IN" sz="2400" spc="185" dirty="0" err="1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i</a:t>
            </a:r>
            <a:r>
              <a:rPr sz="2400" spc="18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ca</a:t>
            </a:r>
            <a:r>
              <a:rPr lang="en-IN" sz="2400" spc="18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l):</a:t>
            </a:r>
          </a:p>
          <a:p>
            <a:pPr marL="629285" marR="4771390" indent="-12700">
              <a:spcBef>
                <a:spcPts val="2195"/>
              </a:spcBef>
            </a:pPr>
            <a:r>
              <a:rPr sz="2400" spc="-25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IF</a:t>
            </a:r>
            <a:r>
              <a:rPr sz="2400" spc="-33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 </a:t>
            </a:r>
            <a:r>
              <a:rPr sz="2400" spc="-26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(patient</a:t>
            </a:r>
            <a:r>
              <a:rPr sz="2400" spc="-8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 </a:t>
            </a:r>
            <a:r>
              <a:rPr sz="2400" spc="-25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has</a:t>
            </a:r>
            <a:r>
              <a:rPr sz="2400" spc="-13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 </a:t>
            </a:r>
            <a:r>
              <a:rPr sz="2400" spc="-28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fever) </a:t>
            </a:r>
            <a:endParaRPr lang="en-IN" sz="2400" spc="-285" dirty="0">
              <a:solidFill>
                <a:schemeClr val="tx1"/>
              </a:solidFill>
              <a:latin typeface="Bahnschrift" panose="020B0502040204020203" pitchFamily="34" charset="0"/>
              <a:cs typeface="Consolas"/>
            </a:endParaRPr>
          </a:p>
          <a:p>
            <a:pPr marL="629285" marR="4771390" indent="-12700">
              <a:spcBef>
                <a:spcPts val="2195"/>
              </a:spcBef>
            </a:pPr>
            <a:r>
              <a:rPr sz="2400" spc="-29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AND</a:t>
            </a:r>
            <a:r>
              <a:rPr sz="2400" spc="-27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 </a:t>
            </a:r>
            <a:r>
              <a:rPr sz="2400" spc="-26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(patient</a:t>
            </a:r>
            <a:r>
              <a:rPr sz="2400" spc="-8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 </a:t>
            </a:r>
            <a:r>
              <a:rPr sz="2400" spc="-254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has</a:t>
            </a:r>
            <a:r>
              <a:rPr sz="2400" spc="-22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 </a:t>
            </a:r>
            <a:r>
              <a:rPr sz="2400" spc="-27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cough)</a:t>
            </a:r>
            <a:endParaRPr lang="en-IN" sz="2400" dirty="0">
              <a:solidFill>
                <a:schemeClr val="tx1"/>
              </a:solidFill>
              <a:latin typeface="Bahnschrift" panose="020B0502040204020203" pitchFamily="34" charset="0"/>
              <a:cs typeface="Consolas"/>
            </a:endParaRPr>
          </a:p>
          <a:p>
            <a:pPr marL="629285" marR="4771390" indent="-12700">
              <a:spcBef>
                <a:spcPts val="2195"/>
              </a:spcBef>
            </a:pPr>
            <a:r>
              <a:rPr sz="2400" spc="-29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THEN</a:t>
            </a:r>
            <a:r>
              <a:rPr sz="2400" spc="-21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 </a:t>
            </a:r>
            <a:r>
              <a:rPr sz="2400" spc="-26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(suggest</a:t>
            </a:r>
            <a:r>
              <a:rPr sz="2400" spc="1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 </a:t>
            </a:r>
            <a:r>
              <a:rPr sz="2400" spc="-290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flu</a:t>
            </a:r>
            <a:r>
              <a:rPr sz="2400" spc="-8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 </a:t>
            </a:r>
            <a:r>
              <a:rPr sz="2400" spc="-295" dirty="0">
                <a:solidFill>
                  <a:schemeClr val="tx1"/>
                </a:solidFill>
                <a:latin typeface="Bahnschrift" panose="020B0502040204020203" pitchFamily="34" charset="0"/>
                <a:cs typeface="Consolas"/>
              </a:rPr>
              <a:t>test)</a:t>
            </a:r>
            <a:endParaRPr sz="2400" dirty="0">
              <a:solidFill>
                <a:schemeClr val="tx1"/>
              </a:solidFill>
              <a:latin typeface="Bahnschrift" panose="020B0502040204020203" pitchFamily="34" charset="0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6850" y="4319608"/>
            <a:ext cx="8112018" cy="5975610"/>
          </a:xfrm>
          <a:prstGeom prst="rect">
            <a:avLst/>
          </a:prstGeom>
          <a:ln w="23559">
            <a:solidFill>
              <a:srgbClr val="0F4870"/>
            </a:solidFill>
          </a:ln>
        </p:spPr>
        <p:txBody>
          <a:bodyPr vert="horz" wrap="square" lIns="0" tIns="457200" rIns="0" bIns="0" rtlCol="0">
            <a:spAutoFit/>
          </a:bodyPr>
          <a:lstStyle/>
          <a:p>
            <a:pPr marL="637540">
              <a:lnSpc>
                <a:spcPct val="100000"/>
              </a:lnSpc>
              <a:spcBef>
                <a:spcPts val="3600"/>
              </a:spcBef>
            </a:pPr>
            <a:r>
              <a:rPr sz="4900" spc="-100" dirty="0">
                <a:solidFill>
                  <a:srgbClr val="084480"/>
                </a:solidFill>
                <a:latin typeface="Times New Roman"/>
                <a:cs typeface="Times New Roman"/>
              </a:rPr>
              <a:t>Frame-</a:t>
            </a:r>
            <a:r>
              <a:rPr sz="4900" dirty="0">
                <a:solidFill>
                  <a:srgbClr val="084480"/>
                </a:solidFill>
                <a:latin typeface="Times New Roman"/>
                <a:cs typeface="Times New Roman"/>
              </a:rPr>
              <a:t>Based</a:t>
            </a:r>
            <a:r>
              <a:rPr sz="4900" spc="-135" dirty="0">
                <a:solidFill>
                  <a:srgbClr val="084480"/>
                </a:solidFill>
                <a:latin typeface="Times New Roman"/>
                <a:cs typeface="Times New Roman"/>
              </a:rPr>
              <a:t> </a:t>
            </a:r>
            <a:r>
              <a:rPr sz="4900" spc="-10" dirty="0">
                <a:solidFill>
                  <a:srgbClr val="00529A"/>
                </a:solidFill>
                <a:latin typeface="Times New Roman"/>
                <a:cs typeface="Times New Roman"/>
              </a:rPr>
              <a:t>Systems</a:t>
            </a:r>
            <a:endParaRPr sz="4900" dirty="0">
              <a:latin typeface="Times New Roman"/>
              <a:cs typeface="Times New Roman"/>
            </a:endParaRPr>
          </a:p>
          <a:p>
            <a:pPr marL="633095" marR="796925" indent="-12065">
              <a:lnSpc>
                <a:spcPct val="113599"/>
              </a:lnSpc>
              <a:spcBef>
                <a:spcPts val="1860"/>
              </a:spcBef>
            </a:pPr>
            <a:r>
              <a:rPr sz="2450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Knowledge</a:t>
            </a:r>
            <a:r>
              <a:rPr sz="2450" spc="300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75" dirty="0">
                <a:latin typeface="Constantia" panose="02030602050306030303" pitchFamily="18" charset="0"/>
                <a:cs typeface="Calibri"/>
              </a:rPr>
              <a:t>can</a:t>
            </a:r>
            <a:r>
              <a:rPr sz="2450" spc="15" dirty="0"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also</a:t>
            </a:r>
            <a:r>
              <a:rPr sz="2450" spc="120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70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be</a:t>
            </a:r>
            <a:r>
              <a:rPr sz="2450" spc="90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stored</a:t>
            </a:r>
            <a:r>
              <a:rPr sz="2450" spc="130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as</a:t>
            </a:r>
            <a:r>
              <a:rPr sz="2450" spc="204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135" dirty="0">
                <a:solidFill>
                  <a:srgbClr val="070707"/>
                </a:solidFill>
                <a:latin typeface="Constantia" panose="02030602050306030303" pitchFamily="18" charset="0"/>
                <a:cs typeface="Calibri"/>
              </a:rPr>
              <a:t>object—</a:t>
            </a:r>
            <a:r>
              <a:rPr sz="2450" spc="-25" dirty="0">
                <a:solidFill>
                  <a:srgbClr val="070707"/>
                </a:solidFill>
                <a:latin typeface="Constantia" panose="02030602050306030303" pitchFamily="18" charset="0"/>
                <a:cs typeface="Calibri"/>
              </a:rPr>
              <a:t>like</a:t>
            </a:r>
            <a:r>
              <a:rPr sz="2450" spc="285" dirty="0">
                <a:solidFill>
                  <a:srgbClr val="070707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10" dirty="0">
                <a:solidFill>
                  <a:srgbClr val="181818"/>
                </a:solidFill>
                <a:latin typeface="Constantia" panose="02030602050306030303" pitchFamily="18" charset="0"/>
                <a:cs typeface="Calibri"/>
              </a:rPr>
              <a:t>structures </a:t>
            </a:r>
            <a:r>
              <a:rPr sz="2450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called</a:t>
            </a:r>
            <a:r>
              <a:rPr sz="2450" spc="-30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b="1" spc="-35" dirty="0">
                <a:solidFill>
                  <a:srgbClr val="0A0A0A"/>
                </a:solidFill>
                <a:latin typeface="Constantia" panose="02030602050306030303" pitchFamily="18" charset="0"/>
                <a:cs typeface="Calibri"/>
              </a:rPr>
              <a:t>**Frames**.</a:t>
            </a:r>
            <a:r>
              <a:rPr sz="2450" b="1" spc="155" dirty="0">
                <a:solidFill>
                  <a:srgbClr val="0A0A0A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90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Each</a:t>
            </a:r>
            <a:r>
              <a:rPr sz="2450" spc="-65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frame</a:t>
            </a:r>
            <a:r>
              <a:rPr sz="2450" spc="45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65" dirty="0">
                <a:solidFill>
                  <a:srgbClr val="232323"/>
                </a:solidFill>
                <a:latin typeface="Constantia" panose="02030602050306030303" pitchFamily="18" charset="0"/>
                <a:cs typeface="Calibri"/>
              </a:rPr>
              <a:t>has</a:t>
            </a:r>
            <a:r>
              <a:rPr sz="2450" spc="80" dirty="0">
                <a:solidFill>
                  <a:srgbClr val="232323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50" dirty="0">
                <a:solidFill>
                  <a:srgbClr val="0A0A0A"/>
                </a:solidFill>
                <a:latin typeface="Constantia" panose="02030602050306030303" pitchFamily="18" charset="0"/>
                <a:cs typeface="Calibri"/>
              </a:rPr>
              <a:t>slots</a:t>
            </a:r>
            <a:r>
              <a:rPr sz="2450" spc="95" dirty="0">
                <a:solidFill>
                  <a:srgbClr val="0A0A0A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for</a:t>
            </a:r>
            <a:r>
              <a:rPr sz="2450" spc="175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10" dirty="0">
                <a:solidFill>
                  <a:srgbClr val="181818"/>
                </a:solidFill>
                <a:latin typeface="Constantia" panose="02030602050306030303" pitchFamily="18" charset="0"/>
                <a:cs typeface="Calibri"/>
              </a:rPr>
              <a:t>specific </a:t>
            </a:r>
            <a:r>
              <a:rPr sz="2450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details</a:t>
            </a:r>
            <a:r>
              <a:rPr sz="2450" spc="204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about</a:t>
            </a:r>
            <a:r>
              <a:rPr sz="2450" spc="204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212121"/>
                </a:solidFill>
                <a:latin typeface="Constantia" panose="02030602050306030303" pitchFamily="18" charset="0"/>
                <a:cs typeface="Calibri"/>
              </a:rPr>
              <a:t>an</a:t>
            </a:r>
            <a:r>
              <a:rPr sz="2450" spc="-20" dirty="0">
                <a:solidFill>
                  <a:srgbClr val="212121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10" dirty="0">
                <a:solidFill>
                  <a:srgbClr val="131313"/>
                </a:solidFill>
                <a:latin typeface="Constantia" panose="02030602050306030303" pitchFamily="18" charset="0"/>
                <a:cs typeface="Calibri"/>
              </a:rPr>
              <a:t>item.</a:t>
            </a:r>
            <a:endParaRPr sz="2450" dirty="0">
              <a:latin typeface="Constantia" panose="02030602050306030303" pitchFamily="18" charset="0"/>
              <a:cs typeface="Calibri"/>
            </a:endParaRPr>
          </a:p>
          <a:p>
            <a:pPr marL="1016000" marR="1329690" indent="-319405">
              <a:lnSpc>
                <a:spcPct val="111500"/>
              </a:lnSpc>
              <a:spcBef>
                <a:spcPts val="2285"/>
              </a:spcBef>
              <a:buClr>
                <a:srgbClr val="232323"/>
              </a:buClr>
              <a:buChar char="•"/>
              <a:tabLst>
                <a:tab pos="1029969" algn="l"/>
              </a:tabLst>
            </a:pPr>
            <a:r>
              <a:rPr sz="2450" spc="-45" dirty="0">
                <a:solidFill>
                  <a:srgbClr val="181818"/>
                </a:solidFill>
                <a:latin typeface="Constantia" panose="02030602050306030303" pitchFamily="18" charset="0"/>
                <a:cs typeface="Calibri"/>
              </a:rPr>
              <a:t>Example:</a:t>
            </a:r>
            <a:r>
              <a:rPr sz="2450" spc="250" dirty="0">
                <a:solidFill>
                  <a:srgbClr val="181818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A</a:t>
            </a:r>
            <a:r>
              <a:rPr sz="2450" spc="-45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"Car</a:t>
            </a:r>
            <a:r>
              <a:rPr sz="2450" spc="10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30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Frame"</a:t>
            </a:r>
            <a:r>
              <a:rPr sz="2450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65" dirty="0">
                <a:solidFill>
                  <a:srgbClr val="232323"/>
                </a:solidFill>
                <a:latin typeface="Constantia" panose="02030602050306030303" pitchFamily="18" charset="0"/>
                <a:cs typeface="Calibri"/>
              </a:rPr>
              <a:t>has</a:t>
            </a:r>
            <a:r>
              <a:rPr sz="2450" spc="25" dirty="0">
                <a:solidFill>
                  <a:srgbClr val="232323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50" dirty="0">
                <a:solidFill>
                  <a:srgbClr val="0A0A0A"/>
                </a:solidFill>
                <a:latin typeface="Constantia" panose="02030602050306030303" pitchFamily="18" charset="0"/>
                <a:cs typeface="Calibri"/>
              </a:rPr>
              <a:t>slots</a:t>
            </a:r>
            <a:r>
              <a:rPr sz="2450" spc="40" dirty="0">
                <a:solidFill>
                  <a:srgbClr val="0A0A0A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for</a:t>
            </a:r>
            <a:r>
              <a:rPr sz="2450" spc="-5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10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"Engine </a:t>
            </a:r>
            <a:r>
              <a:rPr sz="2450" spc="-105" dirty="0">
                <a:solidFill>
                  <a:srgbClr val="1D1D1D"/>
                </a:solidFill>
                <a:latin typeface="Constantia" panose="02030602050306030303" pitchFamily="18" charset="0"/>
                <a:cs typeface="Calibri"/>
              </a:rPr>
              <a:t>Type,"</a:t>
            </a:r>
            <a:r>
              <a:rPr sz="2450" spc="-30" dirty="0">
                <a:solidFill>
                  <a:srgbClr val="1D1D1D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75" dirty="0">
                <a:solidFill>
                  <a:srgbClr val="232323"/>
                </a:solidFill>
                <a:latin typeface="Constantia" panose="02030602050306030303" pitchFamily="18" charset="0"/>
                <a:cs typeface="Calibri"/>
              </a:rPr>
              <a:t>"Oil</a:t>
            </a:r>
            <a:r>
              <a:rPr sz="2450" spc="-30" dirty="0">
                <a:solidFill>
                  <a:srgbClr val="232323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55" dirty="0">
                <a:solidFill>
                  <a:srgbClr val="1D1D1D"/>
                </a:solidFill>
                <a:latin typeface="Constantia" panose="02030602050306030303" pitchFamily="18" charset="0"/>
                <a:cs typeface="Calibri"/>
              </a:rPr>
              <a:t>Level,"</a:t>
            </a:r>
            <a:r>
              <a:rPr sz="2450" dirty="0">
                <a:solidFill>
                  <a:srgbClr val="1D1D1D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and</a:t>
            </a:r>
            <a:r>
              <a:rPr sz="2450" spc="-140" dirty="0">
                <a:solidFill>
                  <a:srgbClr val="1C1C1C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55" dirty="0">
                <a:solidFill>
                  <a:srgbClr val="1D1D1D"/>
                </a:solidFill>
                <a:latin typeface="Constantia" panose="02030602050306030303" pitchFamily="18" charset="0"/>
                <a:cs typeface="Calibri"/>
              </a:rPr>
              <a:t>"Tire</a:t>
            </a:r>
            <a:r>
              <a:rPr sz="2450" spc="-5" dirty="0">
                <a:solidFill>
                  <a:srgbClr val="1D1D1D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10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Pressure."</a:t>
            </a:r>
            <a:endParaRPr sz="2450" dirty="0">
              <a:latin typeface="Constantia" panose="02030602050306030303" pitchFamily="18" charset="0"/>
              <a:cs typeface="Calibri"/>
            </a:endParaRPr>
          </a:p>
          <a:p>
            <a:pPr marL="1017905" marR="2217420" indent="-321310">
              <a:lnSpc>
                <a:spcPct val="113599"/>
              </a:lnSpc>
              <a:spcBef>
                <a:spcPts val="1920"/>
              </a:spcBef>
              <a:buChar char="•"/>
              <a:tabLst>
                <a:tab pos="1017905" algn="l"/>
                <a:tab pos="1029969" algn="l"/>
              </a:tabLst>
            </a:pPr>
            <a:r>
              <a:rPr sz="2450" dirty="0">
                <a:solidFill>
                  <a:srgbClr val="242424"/>
                </a:solidFill>
                <a:latin typeface="Constantia" panose="02030602050306030303" pitchFamily="18" charset="0"/>
                <a:cs typeface="Calibri"/>
              </a:rPr>
              <a:t>	</a:t>
            </a:r>
            <a:r>
              <a:rPr sz="2450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This</a:t>
            </a:r>
            <a:r>
              <a:rPr sz="2450" spc="60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model</a:t>
            </a:r>
            <a:r>
              <a:rPr sz="2450" spc="110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onstantia" panose="02030602050306030303" pitchFamily="18" charset="0"/>
                <a:cs typeface="Calibri"/>
              </a:rPr>
              <a:t>is</a:t>
            </a:r>
            <a:r>
              <a:rPr sz="2450" spc="180" dirty="0">
                <a:solidFill>
                  <a:srgbClr val="1D1D1D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great</a:t>
            </a:r>
            <a:r>
              <a:rPr sz="2450" spc="190" dirty="0">
                <a:solidFill>
                  <a:srgbClr val="161616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81818"/>
                </a:solidFill>
                <a:latin typeface="Constantia" panose="02030602050306030303" pitchFamily="18" charset="0"/>
                <a:cs typeface="Calibri"/>
              </a:rPr>
              <a:t>for</a:t>
            </a:r>
            <a:r>
              <a:rPr sz="2450" spc="175" dirty="0">
                <a:solidFill>
                  <a:srgbClr val="181818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grouping</a:t>
            </a:r>
            <a:r>
              <a:rPr sz="2450" spc="275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data</a:t>
            </a:r>
            <a:r>
              <a:rPr sz="2450" spc="125" dirty="0">
                <a:solidFill>
                  <a:srgbClr val="1F1F1F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25" dirty="0">
                <a:solidFill>
                  <a:srgbClr val="1A1A1A"/>
                </a:solidFill>
                <a:latin typeface="Constantia" panose="02030602050306030303" pitchFamily="18" charset="0"/>
                <a:cs typeface="Calibri"/>
              </a:rPr>
              <a:t>and </a:t>
            </a:r>
            <a:r>
              <a:rPr sz="2450" dirty="0">
                <a:solidFill>
                  <a:srgbClr val="151515"/>
                </a:solidFill>
                <a:latin typeface="Constantia" panose="02030602050306030303" pitchFamily="18" charset="0"/>
                <a:cs typeface="Calibri"/>
              </a:rPr>
              <a:t>understanding</a:t>
            </a:r>
            <a:r>
              <a:rPr sz="2450" spc="140" dirty="0">
                <a:solidFill>
                  <a:srgbClr val="151515"/>
                </a:solidFill>
                <a:latin typeface="Constantia" panose="02030602050306030303" pitchFamily="18" charset="0"/>
                <a:cs typeface="Calibri"/>
              </a:rPr>
              <a:t> </a:t>
            </a:r>
            <a:r>
              <a:rPr sz="2450" spc="-10" dirty="0">
                <a:solidFill>
                  <a:srgbClr val="151515"/>
                </a:solidFill>
                <a:latin typeface="Constantia" panose="02030602050306030303" pitchFamily="18" charset="0"/>
                <a:cs typeface="Calibri"/>
              </a:rPr>
              <a:t>relationships.</a:t>
            </a:r>
            <a:endParaRPr sz="2450" dirty="0">
              <a:latin typeface="Constantia" panose="02030602050306030303" pitchFamily="18" charset="0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C47F6-67A8-70AC-8C33-4BBF8571DF86}"/>
              </a:ext>
            </a:extLst>
          </p:cNvPr>
          <p:cNvSpPr txBox="1"/>
          <p:nvPr/>
        </p:nvSpPr>
        <p:spPr>
          <a:xfrm>
            <a:off x="905660" y="2618413"/>
            <a:ext cx="181728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It is the method used to organize and formalize the knowledge in the knowledge base. It is in the form of IF-THEN-ELSE rules.</a:t>
            </a:r>
            <a:endParaRPr lang="en-IN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708" y="3219797"/>
            <a:ext cx="8717012" cy="62825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2010" y="756910"/>
            <a:ext cx="16619855" cy="1077407"/>
          </a:xfrm>
          <a:prstGeom prst="rect">
            <a:avLst/>
          </a:prstGeom>
        </p:spPr>
        <p:txBody>
          <a:bodyPr vert="horz" wrap="square" lIns="0" tIns="61147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95"/>
              </a:spcBef>
            </a:pPr>
            <a:r>
              <a:rPr sz="6600" spc="-50" dirty="0">
                <a:solidFill>
                  <a:srgbClr val="003360"/>
                </a:solidFill>
                <a:latin typeface="Cambria"/>
                <a:cs typeface="Cambria"/>
              </a:rPr>
              <a:t>Step</a:t>
            </a:r>
            <a:r>
              <a:rPr sz="6600" spc="-270" dirty="0">
                <a:solidFill>
                  <a:srgbClr val="003360"/>
                </a:solidFill>
                <a:latin typeface="Cambria"/>
                <a:cs typeface="Cambria"/>
              </a:rPr>
              <a:t> </a:t>
            </a:r>
            <a:r>
              <a:rPr sz="6600" spc="-175" dirty="0">
                <a:solidFill>
                  <a:srgbClr val="01467B"/>
                </a:solidFill>
                <a:latin typeface="Cambria"/>
                <a:cs typeface="Cambria"/>
              </a:rPr>
              <a:t>4:</a:t>
            </a:r>
            <a:r>
              <a:rPr sz="6600" spc="-430" dirty="0">
                <a:solidFill>
                  <a:srgbClr val="01467B"/>
                </a:solidFill>
                <a:latin typeface="Cambria"/>
                <a:cs typeface="Cambria"/>
              </a:rPr>
              <a:t> </a:t>
            </a:r>
            <a:r>
              <a:rPr sz="6600" spc="-40" dirty="0">
                <a:solidFill>
                  <a:srgbClr val="03365D"/>
                </a:solidFill>
                <a:latin typeface="Cambria"/>
                <a:cs typeface="Cambria"/>
              </a:rPr>
              <a:t>Implementation</a:t>
            </a:r>
            <a:r>
              <a:rPr sz="6600" spc="-455" dirty="0">
                <a:solidFill>
                  <a:srgbClr val="03365D"/>
                </a:solidFill>
                <a:latin typeface="Cambria"/>
                <a:cs typeface="Cambria"/>
              </a:rPr>
              <a:t> </a:t>
            </a:r>
            <a:r>
              <a:rPr sz="6600" dirty="0">
                <a:solidFill>
                  <a:srgbClr val="003869"/>
                </a:solidFill>
                <a:latin typeface="Cambria"/>
                <a:cs typeface="Cambria"/>
              </a:rPr>
              <a:t>(Building</a:t>
            </a:r>
            <a:r>
              <a:rPr sz="6600" spc="145" dirty="0">
                <a:solidFill>
                  <a:srgbClr val="003869"/>
                </a:solidFill>
                <a:latin typeface="Cambria"/>
                <a:cs typeface="Cambria"/>
              </a:rPr>
              <a:t> </a:t>
            </a:r>
            <a:r>
              <a:rPr sz="6600" dirty="0">
                <a:solidFill>
                  <a:srgbClr val="003D69"/>
                </a:solidFill>
                <a:latin typeface="Cambria"/>
                <a:cs typeface="Cambria"/>
              </a:rPr>
              <a:t>the</a:t>
            </a:r>
            <a:r>
              <a:rPr sz="6600" spc="-175" dirty="0">
                <a:solidFill>
                  <a:srgbClr val="003D69"/>
                </a:solidFill>
                <a:latin typeface="Cambria"/>
                <a:cs typeface="Cambria"/>
              </a:rPr>
              <a:t> </a:t>
            </a:r>
            <a:r>
              <a:rPr sz="6600" spc="-10" dirty="0">
                <a:solidFill>
                  <a:srgbClr val="003867"/>
                </a:solidFill>
                <a:latin typeface="Cambria"/>
                <a:cs typeface="Cambria"/>
              </a:rPr>
              <a:t>System)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FEF91-A6A3-0378-CE86-05B0CF3EFD23}"/>
              </a:ext>
            </a:extLst>
          </p:cNvPr>
          <p:cNvSpPr txBox="1"/>
          <p:nvPr/>
        </p:nvSpPr>
        <p:spPr>
          <a:xfrm>
            <a:off x="-136843" y="2575705"/>
            <a:ext cx="9829800" cy="797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38224" marR="191770">
              <a:lnSpc>
                <a:spcPct val="109100"/>
              </a:lnSpc>
              <a:spcBef>
                <a:spcPts val="95"/>
              </a:spcBef>
            </a:pPr>
            <a:r>
              <a:rPr lang="en-US" sz="3600" b="1" spc="-10" dirty="0">
                <a:solidFill>
                  <a:srgbClr val="0E0E0E"/>
                </a:solidFill>
                <a:latin typeface="Bahnschrift" panose="020B0502040204020203" pitchFamily="34" charset="0"/>
                <a:cs typeface="Calibri"/>
              </a:rPr>
              <a:t>Coding</a:t>
            </a:r>
            <a:r>
              <a:rPr lang="en-US" sz="3600" b="1" spc="-95" dirty="0">
                <a:solidFill>
                  <a:srgbClr val="0E0E0E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b="1" spc="-50" dirty="0">
                <a:solidFill>
                  <a:srgbClr val="212121"/>
                </a:solidFill>
                <a:latin typeface="Bahnschrift" panose="020B0502040204020203" pitchFamily="34" charset="0"/>
                <a:cs typeface="Calibri"/>
              </a:rPr>
              <a:t>the</a:t>
            </a:r>
            <a:r>
              <a:rPr lang="en-US" sz="3600" b="1" spc="-90" dirty="0">
                <a:solidFill>
                  <a:srgbClr val="21212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b="1" spc="-75" dirty="0">
                <a:solidFill>
                  <a:srgbClr val="0E0E0E"/>
                </a:solidFill>
                <a:latin typeface="Bahnschrift" panose="020B0502040204020203" pitchFamily="34" charset="0"/>
                <a:cs typeface="Calibri"/>
              </a:rPr>
              <a:t>Knowledge: </a:t>
            </a:r>
          </a:p>
          <a:p>
            <a:pPr marL="1038224" marR="191770">
              <a:lnSpc>
                <a:spcPct val="109100"/>
              </a:lnSpc>
              <a:spcBef>
                <a:spcPts val="95"/>
              </a:spcBef>
            </a:pPr>
            <a:r>
              <a:rPr lang="en-US" sz="3600" spc="-10" dirty="0">
                <a:solidFill>
                  <a:srgbClr val="0E0E0E"/>
                </a:solidFill>
                <a:latin typeface="Bahnschrift" panose="020B0502040204020203" pitchFamily="34" charset="0"/>
                <a:cs typeface="Calibri"/>
              </a:rPr>
              <a:t>The</a:t>
            </a:r>
            <a:r>
              <a:rPr lang="en-US" sz="3600" spc="-130" dirty="0">
                <a:solidFill>
                  <a:srgbClr val="0E0E0E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0F0F0F"/>
                </a:solidFill>
                <a:latin typeface="Bahnschrift" panose="020B0502040204020203" pitchFamily="34" charset="0"/>
                <a:cs typeface="Calibri"/>
              </a:rPr>
              <a:t>rules</a:t>
            </a:r>
            <a:r>
              <a:rPr lang="en-US" sz="3600" spc="-65" dirty="0">
                <a:solidFill>
                  <a:srgbClr val="0F0F0F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latin typeface="Bahnschrift" panose="020B0502040204020203" pitchFamily="34" charset="0"/>
                <a:cs typeface="Calibri"/>
              </a:rPr>
              <a:t>are</a:t>
            </a:r>
            <a:r>
              <a:rPr lang="en-US" sz="3600" spc="-65" dirty="0"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10" dirty="0">
                <a:solidFill>
                  <a:srgbClr val="0E0E0E"/>
                </a:solidFill>
                <a:latin typeface="Bahnschrift" panose="020B0502040204020203" pitchFamily="34" charset="0"/>
                <a:cs typeface="Calibri"/>
              </a:rPr>
              <a:t>translated</a:t>
            </a:r>
            <a:r>
              <a:rPr lang="en-US" sz="3600" spc="-110" dirty="0">
                <a:solidFill>
                  <a:srgbClr val="0E0E0E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20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into </a:t>
            </a:r>
            <a:r>
              <a:rPr lang="en-US" sz="3600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code,</a:t>
            </a:r>
            <a:r>
              <a:rPr lang="en-US" sz="3600" spc="-145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20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often</a:t>
            </a:r>
            <a:r>
              <a:rPr lang="en-US" sz="3600" spc="-125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using</a:t>
            </a:r>
            <a:r>
              <a:rPr lang="en-US" sz="3600" spc="-55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20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an</a:t>
            </a:r>
            <a:r>
              <a:rPr lang="en-US" sz="3600" spc="-125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45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Expert</a:t>
            </a:r>
            <a:r>
              <a:rPr lang="en-US" sz="3600" spc="155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C1C1C"/>
                </a:solidFill>
                <a:latin typeface="Bahnschrift" panose="020B0502040204020203" pitchFamily="34" charset="0"/>
                <a:cs typeface="Calibri"/>
              </a:rPr>
              <a:t>System</a:t>
            </a:r>
            <a:r>
              <a:rPr lang="en-US" sz="3600" spc="65" dirty="0">
                <a:solidFill>
                  <a:srgbClr val="1C1C1C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110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Shell</a:t>
            </a:r>
            <a:r>
              <a:rPr lang="en-US" sz="3600" spc="55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(a</a:t>
            </a:r>
            <a:r>
              <a:rPr lang="en-US" sz="3600" spc="-145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10" dirty="0">
                <a:solidFill>
                  <a:srgbClr val="131313"/>
                </a:solidFill>
                <a:latin typeface="Bahnschrift" panose="020B0502040204020203" pitchFamily="34" charset="0"/>
                <a:cs typeface="Calibri"/>
              </a:rPr>
              <a:t>ready— </a:t>
            </a:r>
            <a:r>
              <a:rPr lang="en-US" sz="3600" dirty="0">
                <a:solidFill>
                  <a:srgbClr val="151515"/>
                </a:solidFill>
                <a:latin typeface="Bahnschrift" panose="020B0502040204020203" pitchFamily="34" charset="0"/>
                <a:cs typeface="Calibri"/>
              </a:rPr>
              <a:t>made</a:t>
            </a:r>
            <a:r>
              <a:rPr lang="en-US" sz="3600" spc="-65" dirty="0">
                <a:solidFill>
                  <a:srgbClr val="151515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10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framework).</a:t>
            </a:r>
          </a:p>
          <a:p>
            <a:pPr marL="1038224" marR="191770">
              <a:lnSpc>
                <a:spcPct val="109100"/>
              </a:lnSpc>
              <a:spcBef>
                <a:spcPts val="95"/>
              </a:spcBef>
            </a:pPr>
            <a:endParaRPr lang="en-US" sz="3600" spc="-10" dirty="0">
              <a:solidFill>
                <a:srgbClr val="161616"/>
              </a:solidFill>
              <a:latin typeface="Bahnschrift" panose="020B0502040204020203" pitchFamily="34" charset="0"/>
              <a:cs typeface="Calibri"/>
            </a:endParaRPr>
          </a:p>
          <a:p>
            <a:pPr marL="1038224" marR="191770">
              <a:lnSpc>
                <a:spcPct val="109100"/>
              </a:lnSpc>
              <a:spcBef>
                <a:spcPts val="95"/>
              </a:spcBef>
            </a:pPr>
            <a:r>
              <a:rPr lang="en-US" sz="3600" b="1" spc="-20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Choosing</a:t>
            </a:r>
            <a:r>
              <a:rPr lang="en-US" sz="3600" b="1" spc="-35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b="1" spc="-50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the</a:t>
            </a:r>
            <a:r>
              <a:rPr lang="en-US" sz="3600" b="1" spc="-95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b="1" spc="-95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Engine: </a:t>
            </a:r>
          </a:p>
          <a:p>
            <a:pPr marL="1038224" marR="191770">
              <a:lnSpc>
                <a:spcPct val="109100"/>
              </a:lnSpc>
              <a:spcBef>
                <a:spcPts val="95"/>
              </a:spcBef>
            </a:pPr>
            <a:r>
              <a:rPr lang="en-US" sz="3600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Decide</a:t>
            </a:r>
            <a:r>
              <a:rPr lang="en-US" sz="3600" spc="-60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10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how</a:t>
            </a:r>
            <a:r>
              <a:rPr lang="en-US" sz="3600" spc="25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30" dirty="0">
                <a:solidFill>
                  <a:srgbClr val="131313"/>
                </a:solidFill>
                <a:latin typeface="Bahnschrift" panose="020B0502040204020203" pitchFamily="34" charset="0"/>
                <a:cs typeface="Calibri"/>
              </a:rPr>
              <a:t>the</a:t>
            </a:r>
            <a:r>
              <a:rPr lang="en-US" sz="3600" spc="-114" dirty="0">
                <a:solidFill>
                  <a:srgbClr val="131313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51515"/>
                </a:solidFill>
                <a:latin typeface="Bahnschrift" panose="020B0502040204020203" pitchFamily="34" charset="0"/>
                <a:cs typeface="Calibri"/>
              </a:rPr>
              <a:t>system</a:t>
            </a:r>
            <a:r>
              <a:rPr lang="en-US" sz="3600" spc="-25" dirty="0">
                <a:solidFill>
                  <a:srgbClr val="151515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20" dirty="0">
                <a:solidFill>
                  <a:srgbClr val="1F1F1F"/>
                </a:solidFill>
                <a:latin typeface="Bahnschrift" panose="020B0502040204020203" pitchFamily="34" charset="0"/>
                <a:cs typeface="Calibri"/>
              </a:rPr>
              <a:t>will </a:t>
            </a:r>
            <a:r>
              <a:rPr lang="en-US" sz="3600" dirty="0">
                <a:solidFill>
                  <a:srgbClr val="131313"/>
                </a:solidFill>
                <a:latin typeface="Bahnschrift" panose="020B0502040204020203" pitchFamily="34" charset="0"/>
                <a:cs typeface="Calibri"/>
              </a:rPr>
              <a:t>reason</a:t>
            </a:r>
            <a:r>
              <a:rPr lang="en-US" sz="3600" spc="-145" dirty="0">
                <a:solidFill>
                  <a:srgbClr val="131313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90" dirty="0">
                <a:solidFill>
                  <a:srgbClr val="111111"/>
                </a:solidFill>
                <a:latin typeface="Bahnschrift" panose="020B0502040204020203" pitchFamily="34" charset="0"/>
                <a:cs typeface="Calibri"/>
              </a:rPr>
              <a:t>(e.g.,</a:t>
            </a:r>
            <a:r>
              <a:rPr lang="en-US" sz="3600" spc="-55" dirty="0">
                <a:solidFill>
                  <a:srgbClr val="111111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Forward</a:t>
            </a:r>
            <a:r>
              <a:rPr lang="en-US" sz="3600" spc="-35" dirty="0">
                <a:solidFill>
                  <a:srgbClr val="1A1A1A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25" dirty="0">
                <a:solidFill>
                  <a:srgbClr val="1C1C1C"/>
                </a:solidFill>
                <a:latin typeface="Bahnschrift" panose="020B0502040204020203" pitchFamily="34" charset="0"/>
                <a:cs typeface="Calibri"/>
              </a:rPr>
              <a:t>Chaining</a:t>
            </a:r>
            <a:r>
              <a:rPr lang="en-US" sz="3600" spc="55" dirty="0">
                <a:solidFill>
                  <a:srgbClr val="1C1C1C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0F0F0F"/>
                </a:solidFill>
                <a:latin typeface="Bahnschrift" panose="020B0502040204020203" pitchFamily="34" charset="0"/>
                <a:cs typeface="Calibri"/>
              </a:rPr>
              <a:t>or</a:t>
            </a:r>
            <a:r>
              <a:rPr lang="en-US" sz="3600" spc="-60" dirty="0">
                <a:solidFill>
                  <a:srgbClr val="0F0F0F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Backward</a:t>
            </a:r>
            <a:r>
              <a:rPr lang="en-US" sz="3600" spc="-70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10" dirty="0">
                <a:solidFill>
                  <a:srgbClr val="0C0C0C"/>
                </a:solidFill>
                <a:latin typeface="Bahnschrift" panose="020B0502040204020203" pitchFamily="34" charset="0"/>
                <a:cs typeface="Calibri"/>
              </a:rPr>
              <a:t>Chaining).</a:t>
            </a:r>
          </a:p>
          <a:p>
            <a:pPr marL="1038224" marR="191770">
              <a:lnSpc>
                <a:spcPct val="109100"/>
              </a:lnSpc>
              <a:spcBef>
                <a:spcPts val="95"/>
              </a:spcBef>
            </a:pPr>
            <a:endParaRPr lang="en-US" sz="3600" spc="-10" dirty="0">
              <a:solidFill>
                <a:srgbClr val="0C0C0C"/>
              </a:solidFill>
              <a:latin typeface="Bahnschrift" panose="020B0502040204020203" pitchFamily="34" charset="0"/>
              <a:cs typeface="Calibri"/>
            </a:endParaRPr>
          </a:p>
          <a:p>
            <a:pPr marL="1038224" marR="191770">
              <a:lnSpc>
                <a:spcPct val="109100"/>
              </a:lnSpc>
              <a:spcBef>
                <a:spcPts val="95"/>
              </a:spcBef>
            </a:pPr>
            <a:r>
              <a:rPr lang="en-US" sz="3600" b="1" spc="-65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Designing</a:t>
            </a:r>
            <a:r>
              <a:rPr lang="en-US" sz="3600" b="1" spc="85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b="1" spc="-50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the</a:t>
            </a:r>
            <a:r>
              <a:rPr lang="en-US" sz="3600" b="1" spc="-95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b="1" spc="-70" dirty="0">
                <a:solidFill>
                  <a:srgbClr val="0A0A0A"/>
                </a:solidFill>
                <a:latin typeface="Bahnschrift" panose="020B0502040204020203" pitchFamily="34" charset="0"/>
                <a:cs typeface="Calibri"/>
              </a:rPr>
              <a:t>Interface: </a:t>
            </a:r>
          </a:p>
          <a:p>
            <a:pPr marL="1038224" marR="191770">
              <a:lnSpc>
                <a:spcPct val="109100"/>
              </a:lnSpc>
              <a:spcBef>
                <a:spcPts val="95"/>
              </a:spcBef>
            </a:pPr>
            <a:r>
              <a:rPr lang="en-US" sz="3600" spc="-95" dirty="0">
                <a:solidFill>
                  <a:srgbClr val="1C1C1C"/>
                </a:solidFill>
                <a:latin typeface="Bahnschrift" panose="020B0502040204020203" pitchFamily="34" charset="0"/>
                <a:cs typeface="Calibri"/>
              </a:rPr>
              <a:t>Make</a:t>
            </a:r>
            <a:r>
              <a:rPr lang="en-US" sz="3600" spc="-5" dirty="0">
                <a:solidFill>
                  <a:srgbClr val="1C1C1C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sure</a:t>
            </a:r>
            <a:r>
              <a:rPr lang="en-US" sz="3600" spc="-25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F1F1F"/>
                </a:solidFill>
                <a:latin typeface="Bahnschrift" panose="020B0502040204020203" pitchFamily="34" charset="0"/>
                <a:cs typeface="Calibri"/>
              </a:rPr>
              <a:t>the</a:t>
            </a:r>
            <a:r>
              <a:rPr lang="en-US" sz="3600" spc="-50" dirty="0">
                <a:solidFill>
                  <a:srgbClr val="1F1F1F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0F0F0F"/>
                </a:solidFill>
                <a:latin typeface="Bahnschrift" panose="020B0502040204020203" pitchFamily="34" charset="0"/>
                <a:cs typeface="Calibri"/>
              </a:rPr>
              <a:t>system</a:t>
            </a:r>
            <a:r>
              <a:rPr lang="en-US" sz="3600" spc="-85" dirty="0">
                <a:solidFill>
                  <a:srgbClr val="0F0F0F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is</a:t>
            </a:r>
            <a:r>
              <a:rPr lang="en-US" sz="3600" spc="-135" dirty="0">
                <a:solidFill>
                  <a:srgbClr val="181818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20" dirty="0">
                <a:solidFill>
                  <a:srgbClr val="151515"/>
                </a:solidFill>
                <a:latin typeface="Bahnschrift" panose="020B0502040204020203" pitchFamily="34" charset="0"/>
                <a:cs typeface="Calibri"/>
              </a:rPr>
              <a:t>easy </a:t>
            </a:r>
            <a:r>
              <a:rPr lang="en-US" sz="3600" dirty="0">
                <a:solidFill>
                  <a:srgbClr val="151515"/>
                </a:solidFill>
                <a:latin typeface="Bahnschrift" panose="020B0502040204020203" pitchFamily="34" charset="0"/>
                <a:cs typeface="Calibri"/>
              </a:rPr>
              <a:t>for</a:t>
            </a:r>
            <a:r>
              <a:rPr lang="en-US" sz="3600" spc="-25" dirty="0">
                <a:solidFill>
                  <a:srgbClr val="151515"/>
                </a:solidFill>
                <a:latin typeface="Bahnschrift" panose="020B0502040204020203" pitchFamily="34" charset="0"/>
                <a:cs typeface="Calibri"/>
              </a:rPr>
              <a:t>  </a:t>
            </a:r>
            <a:r>
              <a:rPr lang="en-US" sz="3600" spc="-35" dirty="0">
                <a:solidFill>
                  <a:srgbClr val="1F1F1F"/>
                </a:solidFill>
                <a:latin typeface="Bahnschrift" panose="020B0502040204020203" pitchFamily="34" charset="0"/>
                <a:cs typeface="Calibri"/>
              </a:rPr>
              <a:t>the</a:t>
            </a:r>
            <a:r>
              <a:rPr lang="en-US" sz="3600" spc="-110" dirty="0">
                <a:solidFill>
                  <a:srgbClr val="1F1F1F"/>
                </a:solidFill>
                <a:latin typeface="Bahnschrift" panose="020B0502040204020203" pitchFamily="34" charset="0"/>
                <a:cs typeface="Calibri"/>
              </a:rPr>
              <a:t>  </a:t>
            </a:r>
            <a:r>
              <a:rPr lang="en-US" sz="3600" spc="-229" dirty="0">
                <a:solidFill>
                  <a:srgbClr val="0C0C0C"/>
                </a:solidFill>
                <a:latin typeface="Bahnschrift" panose="020B0502040204020203" pitchFamily="34" charset="0"/>
                <a:cs typeface="Calibri"/>
              </a:rPr>
              <a:t>end—</a:t>
            </a:r>
            <a:r>
              <a:rPr lang="en-US" sz="3600" spc="-90" dirty="0">
                <a:solidFill>
                  <a:srgbClr val="0C0C0C"/>
                </a:solidFill>
                <a:latin typeface="Bahnschrift" panose="020B0502040204020203" pitchFamily="34" charset="0"/>
                <a:cs typeface="Calibri"/>
              </a:rPr>
              <a:t>user</a:t>
            </a:r>
            <a:r>
              <a:rPr lang="en-US" sz="3600" spc="125" dirty="0">
                <a:solidFill>
                  <a:srgbClr val="0C0C0C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51515"/>
                </a:solidFill>
                <a:latin typeface="Bahnschrift" panose="020B0502040204020203" pitchFamily="34" charset="0"/>
                <a:cs typeface="Calibri"/>
              </a:rPr>
              <a:t>to</a:t>
            </a:r>
            <a:r>
              <a:rPr lang="en-US" sz="3600" spc="-85" dirty="0">
                <a:solidFill>
                  <a:srgbClr val="151515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 interact</a:t>
            </a:r>
            <a:r>
              <a:rPr lang="en-US" sz="3600" spc="45" dirty="0">
                <a:solidFill>
                  <a:srgbClr val="161616"/>
                </a:solidFill>
                <a:latin typeface="Bahnschrift" panose="020B0502040204020203" pitchFamily="34" charset="0"/>
                <a:cs typeface="Calibri"/>
              </a:rPr>
              <a:t> </a:t>
            </a:r>
            <a:r>
              <a:rPr lang="en-US" sz="3600" spc="-10" dirty="0">
                <a:solidFill>
                  <a:srgbClr val="1C1C1C"/>
                </a:solidFill>
                <a:latin typeface="Bahnschrift" panose="020B0502040204020203" pitchFamily="34" charset="0"/>
                <a:cs typeface="Calibri"/>
              </a:rPr>
              <a:t>with</a:t>
            </a:r>
            <a:r>
              <a:rPr lang="en-US" sz="1800" spc="-10" dirty="0">
                <a:solidFill>
                  <a:srgbClr val="1C1C1C"/>
                </a:solidFill>
                <a:latin typeface="Bahnschrift" panose="020B0502040204020203" pitchFamily="34" charset="0"/>
                <a:cs typeface="Calibri"/>
              </a:rPr>
              <a:t>.</a:t>
            </a:r>
            <a:endParaRPr lang="en-US" sz="1800" spc="-70" dirty="0">
              <a:solidFill>
                <a:srgbClr val="0A0A0A"/>
              </a:solidFill>
              <a:latin typeface="Bahnschrift" panose="020B0502040204020203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50" y="2684827"/>
            <a:ext cx="9220200" cy="76180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5322" y="549275"/>
            <a:ext cx="16619855" cy="1096492"/>
          </a:xfrm>
          <a:prstGeom prst="rect">
            <a:avLst/>
          </a:prstGeom>
        </p:spPr>
        <p:txBody>
          <a:bodyPr vert="horz" wrap="square" lIns="0" tIns="800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z="6600" dirty="0">
                <a:solidFill>
                  <a:srgbClr val="003360"/>
                </a:solidFill>
                <a:latin typeface="Cambria"/>
                <a:cs typeface="Cambria"/>
              </a:rPr>
              <a:t>Step</a:t>
            </a:r>
            <a:r>
              <a:rPr sz="6600" spc="-165" dirty="0">
                <a:solidFill>
                  <a:srgbClr val="003360"/>
                </a:solidFill>
                <a:latin typeface="Cambria"/>
                <a:cs typeface="Cambria"/>
              </a:rPr>
              <a:t> </a:t>
            </a:r>
            <a:r>
              <a:rPr sz="6600" dirty="0">
                <a:solidFill>
                  <a:srgbClr val="00415B"/>
                </a:solidFill>
                <a:latin typeface="Cambria"/>
                <a:cs typeface="Cambria"/>
              </a:rPr>
              <a:t>5</a:t>
            </a:r>
            <a:r>
              <a:rPr sz="6600" spc="-365" dirty="0">
                <a:solidFill>
                  <a:srgbClr val="00415B"/>
                </a:solidFill>
                <a:latin typeface="Cambria"/>
                <a:cs typeface="Cambria"/>
              </a:rPr>
              <a:t> </a:t>
            </a:r>
            <a:r>
              <a:rPr sz="6600" dirty="0">
                <a:solidFill>
                  <a:srgbClr val="003D6E"/>
                </a:solidFill>
                <a:latin typeface="Cambria"/>
                <a:cs typeface="Cambria"/>
              </a:rPr>
              <a:t>&amp;</a:t>
            </a:r>
            <a:r>
              <a:rPr sz="6600" spc="-30" dirty="0">
                <a:solidFill>
                  <a:srgbClr val="003D6E"/>
                </a:solidFill>
                <a:latin typeface="Cambria"/>
                <a:cs typeface="Cambria"/>
              </a:rPr>
              <a:t> </a:t>
            </a:r>
            <a:r>
              <a:rPr sz="6600" spc="-35" dirty="0">
                <a:solidFill>
                  <a:srgbClr val="003159"/>
                </a:solidFill>
                <a:latin typeface="Cambria"/>
                <a:cs typeface="Cambria"/>
              </a:rPr>
              <a:t>6:</a:t>
            </a:r>
            <a:r>
              <a:rPr sz="6600" spc="-315" dirty="0">
                <a:solidFill>
                  <a:srgbClr val="003159"/>
                </a:solidFill>
                <a:latin typeface="Cambria"/>
                <a:cs typeface="Cambria"/>
              </a:rPr>
              <a:t> </a:t>
            </a:r>
            <a:r>
              <a:rPr sz="6600" spc="114" dirty="0">
                <a:solidFill>
                  <a:srgbClr val="013662"/>
                </a:solidFill>
                <a:latin typeface="Cambria"/>
                <a:cs typeface="Cambria"/>
              </a:rPr>
              <a:t>Testing,</a:t>
            </a:r>
            <a:r>
              <a:rPr sz="6600" spc="-55" dirty="0">
                <a:solidFill>
                  <a:srgbClr val="013662"/>
                </a:solidFill>
                <a:latin typeface="Cambria"/>
                <a:cs typeface="Cambria"/>
              </a:rPr>
              <a:t> </a:t>
            </a:r>
            <a:r>
              <a:rPr sz="6600" dirty="0">
                <a:solidFill>
                  <a:srgbClr val="033660"/>
                </a:solidFill>
                <a:latin typeface="Cambria"/>
                <a:cs typeface="Cambria"/>
              </a:rPr>
              <a:t>Rollout,</a:t>
            </a:r>
            <a:r>
              <a:rPr sz="6600" spc="-25" dirty="0">
                <a:solidFill>
                  <a:srgbClr val="033660"/>
                </a:solidFill>
                <a:latin typeface="Cambria"/>
                <a:cs typeface="Cambria"/>
              </a:rPr>
              <a:t> </a:t>
            </a:r>
            <a:r>
              <a:rPr sz="6600" spc="55" dirty="0">
                <a:solidFill>
                  <a:srgbClr val="003869"/>
                </a:solidFill>
                <a:latin typeface="Cambria"/>
                <a:cs typeface="Cambria"/>
              </a:rPr>
              <a:t>and</a:t>
            </a:r>
            <a:r>
              <a:rPr sz="6600" spc="-375" dirty="0">
                <a:solidFill>
                  <a:srgbClr val="003869"/>
                </a:solidFill>
                <a:latin typeface="Cambria"/>
                <a:cs typeface="Cambria"/>
              </a:rPr>
              <a:t> </a:t>
            </a:r>
            <a:r>
              <a:rPr sz="6600" spc="40" dirty="0">
                <a:solidFill>
                  <a:srgbClr val="083460"/>
                </a:solidFill>
                <a:latin typeface="Cambria"/>
                <a:cs typeface="Cambria"/>
              </a:rPr>
              <a:t>Maintenance</a:t>
            </a:r>
            <a:endParaRPr sz="66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086" y="2552038"/>
            <a:ext cx="9132342" cy="761804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00" dirty="0">
                <a:solidFill>
                  <a:srgbClr val="01386B"/>
                </a:solidFill>
                <a:latin typeface="Cambria"/>
                <a:cs typeface="Cambria"/>
              </a:rPr>
              <a:t>Testing</a:t>
            </a:r>
            <a:r>
              <a:rPr sz="5400" spc="254" dirty="0">
                <a:solidFill>
                  <a:srgbClr val="01386B"/>
                </a:solidFill>
                <a:latin typeface="Cambria"/>
                <a:cs typeface="Cambria"/>
              </a:rPr>
              <a:t> </a:t>
            </a:r>
            <a:r>
              <a:rPr sz="5400" spc="-195" dirty="0">
                <a:solidFill>
                  <a:srgbClr val="003D72"/>
                </a:solidFill>
                <a:latin typeface="Cambria"/>
                <a:cs typeface="Cambria"/>
              </a:rPr>
              <a:t>&amp;</a:t>
            </a:r>
            <a:r>
              <a:rPr sz="5400" spc="-100" dirty="0">
                <a:solidFill>
                  <a:srgbClr val="003D72"/>
                </a:solidFill>
                <a:latin typeface="Cambria"/>
                <a:cs typeface="Cambria"/>
              </a:rPr>
              <a:t> </a:t>
            </a:r>
            <a:r>
              <a:rPr sz="5400" spc="-10" dirty="0">
                <a:solidFill>
                  <a:srgbClr val="003460"/>
                </a:solidFill>
                <a:latin typeface="Cambria"/>
                <a:cs typeface="Cambria"/>
              </a:rPr>
              <a:t>Validation</a:t>
            </a:r>
            <a:endParaRPr sz="5400" dirty="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280"/>
              </a:spcBef>
            </a:pPr>
            <a:r>
              <a:rPr sz="36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3600" spc="35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sz="3600" spc="55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3600" spc="-1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tested</a:t>
            </a:r>
            <a:r>
              <a:rPr sz="3600" spc="25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10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against</a:t>
            </a:r>
            <a:r>
              <a:rPr sz="3600" spc="85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sz="3600" spc="55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5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past</a:t>
            </a:r>
            <a:r>
              <a:rPr sz="3600" spc="10" dirty="0">
                <a:solidFill>
                  <a:srgbClr val="15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cases.</a:t>
            </a:r>
            <a:r>
              <a:rPr sz="3600" spc="70" dirty="0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4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3600" spc="-55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5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</a:t>
            </a:r>
            <a:r>
              <a:rPr sz="3600" spc="-35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1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expert</a:t>
            </a:r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45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</a:t>
            </a:r>
            <a:r>
              <a:rPr sz="3600" spc="5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1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approve</a:t>
            </a:r>
            <a:r>
              <a:rPr sz="3600" spc="85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D1D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3600" spc="-45" dirty="0">
                <a:solidFill>
                  <a:srgbClr val="1D1D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20" dirty="0">
                <a:solidFill>
                  <a:srgbClr val="1313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system's</a:t>
            </a:r>
            <a:r>
              <a:rPr sz="3600" spc="90" dirty="0">
                <a:solidFill>
                  <a:srgbClr val="1313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25" dirty="0">
                <a:solidFill>
                  <a:srgbClr val="1313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answers.</a:t>
            </a:r>
            <a:r>
              <a:rPr sz="3600" spc="80" dirty="0">
                <a:solidFill>
                  <a:srgbClr val="1313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1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z="3600" spc="-65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3600" spc="-70" dirty="0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3600" spc="-145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</a:t>
            </a:r>
            <a:r>
              <a:rPr sz="3600" spc="-5" dirty="0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3600" spc="25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1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testing, </a:t>
            </a:r>
            <a:r>
              <a:rPr sz="3600" spc="-50" dirty="0">
                <a:solidFill>
                  <a:srgbClr val="0C0C0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refining</a:t>
            </a:r>
            <a:r>
              <a:rPr sz="3600" spc="45" dirty="0">
                <a:solidFill>
                  <a:srgbClr val="0C0C0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4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3600" spc="-105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45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rules,</a:t>
            </a:r>
            <a:r>
              <a:rPr sz="3600" spc="-3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3600" spc="-7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</a:t>
            </a:r>
            <a:r>
              <a:rPr sz="3600" spc="25" dirty="0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25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again</a:t>
            </a:r>
            <a:r>
              <a:rPr sz="3600" spc="-12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35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until</a:t>
            </a:r>
            <a:r>
              <a:rPr sz="3600" spc="25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30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3600" spc="-95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0C0C0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sz="3600" spc="-25" dirty="0">
                <a:solidFill>
                  <a:srgbClr val="0C0C0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3600" spc="-135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10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reliable.</a:t>
            </a:r>
            <a:endParaRPr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209">
              <a:lnSpc>
                <a:spcPct val="100000"/>
              </a:lnSpc>
              <a:spcBef>
                <a:spcPts val="1935"/>
              </a:spcBef>
            </a:pPr>
            <a:r>
              <a:rPr sz="5400" dirty="0">
                <a:solidFill>
                  <a:srgbClr val="013F70"/>
                </a:solidFill>
                <a:latin typeface="Times New Roman"/>
                <a:cs typeface="Times New Roman"/>
              </a:rPr>
              <a:t>Deployment</a:t>
            </a:r>
            <a:r>
              <a:rPr sz="5400" spc="650" dirty="0">
                <a:solidFill>
                  <a:srgbClr val="013F70"/>
                </a:solidFill>
                <a:latin typeface="Times New Roman"/>
                <a:cs typeface="Times New Roman"/>
              </a:rPr>
              <a:t> </a:t>
            </a:r>
            <a:r>
              <a:rPr sz="5400" spc="-575" dirty="0">
                <a:solidFill>
                  <a:srgbClr val="003662"/>
                </a:solidFill>
                <a:latin typeface="Times New Roman"/>
                <a:cs typeface="Times New Roman"/>
              </a:rPr>
              <a:t>&amp;</a:t>
            </a:r>
            <a:r>
              <a:rPr sz="5400" spc="-105" dirty="0">
                <a:solidFill>
                  <a:srgbClr val="003662"/>
                </a:solidFill>
                <a:latin typeface="Times New Roman"/>
                <a:cs typeface="Times New Roman"/>
              </a:rPr>
              <a:t> </a:t>
            </a:r>
            <a:r>
              <a:rPr sz="5400" spc="135" dirty="0">
                <a:solidFill>
                  <a:srgbClr val="033A62"/>
                </a:solidFill>
                <a:latin typeface="Times New Roman"/>
                <a:cs typeface="Times New Roman"/>
              </a:rPr>
              <a:t>Maintenance</a:t>
            </a:r>
            <a:endParaRPr sz="5400" dirty="0">
              <a:latin typeface="Times New Roman"/>
              <a:cs typeface="Times New Roman"/>
            </a:endParaRPr>
          </a:p>
          <a:p>
            <a:pPr marL="14604" marR="381000" indent="13970">
              <a:lnSpc>
                <a:spcPct val="109100"/>
              </a:lnSpc>
              <a:spcBef>
                <a:spcPts val="1939"/>
              </a:spcBef>
            </a:pPr>
            <a:r>
              <a:rPr sz="36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3600" spc="-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31313"/>
                </a:solidFill>
                <a:latin typeface="Calibri"/>
                <a:cs typeface="Calibri"/>
              </a:rPr>
              <a:t>system</a:t>
            </a:r>
            <a:r>
              <a:rPr sz="3600" spc="1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C1C1C"/>
                </a:solidFill>
                <a:latin typeface="Calibri"/>
                <a:cs typeface="Calibri"/>
              </a:rPr>
              <a:t>is</a:t>
            </a:r>
            <a:r>
              <a:rPr sz="3600" spc="-1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F1F1F"/>
                </a:solidFill>
                <a:latin typeface="Calibri"/>
                <a:cs typeface="Calibri"/>
              </a:rPr>
              <a:t>used</a:t>
            </a:r>
            <a:r>
              <a:rPr sz="3600" spc="-1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C1C1C"/>
                </a:solidFill>
                <a:latin typeface="Calibri"/>
                <a:cs typeface="Calibri"/>
              </a:rPr>
              <a:t>in</a:t>
            </a:r>
            <a:r>
              <a:rPr sz="3600" spc="-8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600" spc="-40" dirty="0">
                <a:solidFill>
                  <a:srgbClr val="131313"/>
                </a:solidFill>
                <a:latin typeface="Calibri"/>
                <a:cs typeface="Calibri"/>
              </a:rPr>
              <a:t>the</a:t>
            </a:r>
            <a:r>
              <a:rPr sz="3600" spc="-10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D1D1D"/>
                </a:solidFill>
                <a:latin typeface="Calibri"/>
                <a:cs typeface="Calibri"/>
              </a:rPr>
              <a:t>real</a:t>
            </a:r>
            <a:r>
              <a:rPr sz="3600" spc="-2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600" spc="-70" dirty="0">
                <a:solidFill>
                  <a:srgbClr val="111111"/>
                </a:solidFill>
                <a:latin typeface="Calibri"/>
                <a:cs typeface="Calibri"/>
              </a:rPr>
              <a:t>world.</a:t>
            </a:r>
            <a:r>
              <a:rPr sz="3600" spc="-4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sz="3600" spc="-8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A1A1A"/>
                </a:solidFill>
                <a:latin typeface="Calibri"/>
                <a:cs typeface="Calibri"/>
              </a:rPr>
              <a:t>needs</a:t>
            </a:r>
            <a:r>
              <a:rPr sz="36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161616"/>
                </a:solidFill>
                <a:latin typeface="Calibri"/>
                <a:cs typeface="Calibri"/>
              </a:rPr>
              <a:t>constant </a:t>
            </a:r>
            <a:r>
              <a:rPr sz="3600" spc="-50" dirty="0">
                <a:solidFill>
                  <a:srgbClr val="111111"/>
                </a:solidFill>
                <a:latin typeface="Calibri"/>
                <a:cs typeface="Calibri"/>
              </a:rPr>
              <a:t>updates</a:t>
            </a:r>
            <a:r>
              <a:rPr lang="en-IN" sz="3600" spc="-5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11111"/>
                </a:solidFill>
                <a:latin typeface="Calibri"/>
                <a:cs typeface="Calibri"/>
              </a:rPr>
              <a:t>to</a:t>
            </a:r>
            <a:r>
              <a:rPr sz="3600" spc="1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3600" spc="-9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600" spc="-35" dirty="0">
                <a:solidFill>
                  <a:srgbClr val="181818"/>
                </a:solidFill>
                <a:latin typeface="Calibri"/>
                <a:cs typeface="Calibri"/>
              </a:rPr>
              <a:t>Knowledge</a:t>
            </a:r>
            <a:r>
              <a:rPr sz="3600" spc="5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81818"/>
                </a:solidFill>
                <a:latin typeface="Calibri"/>
                <a:cs typeface="Calibri"/>
              </a:rPr>
              <a:t>Base</a:t>
            </a:r>
            <a:r>
              <a:rPr sz="3600" spc="-3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600" spc="50" dirty="0">
                <a:solidFill>
                  <a:srgbClr val="111111"/>
                </a:solidFill>
                <a:latin typeface="Calibri"/>
                <a:cs typeface="Calibri"/>
              </a:rPr>
              <a:t>as</a:t>
            </a:r>
            <a:r>
              <a:rPr sz="3600" spc="-114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1A1A1A"/>
                </a:solidFill>
                <a:latin typeface="Calibri"/>
                <a:cs typeface="Calibri"/>
              </a:rPr>
              <a:t>new</a:t>
            </a:r>
            <a:r>
              <a:rPr sz="3600" spc="-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161616"/>
                </a:solidFill>
                <a:latin typeface="Calibri"/>
                <a:cs typeface="Calibri"/>
              </a:rPr>
              <a:t>research,</a:t>
            </a:r>
            <a:r>
              <a:rPr sz="36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600" spc="-55" dirty="0">
                <a:solidFill>
                  <a:srgbClr val="181818"/>
                </a:solidFill>
                <a:latin typeface="Calibri"/>
                <a:cs typeface="Calibri"/>
              </a:rPr>
              <a:t>rules,</a:t>
            </a:r>
            <a:r>
              <a:rPr sz="3600" spc="-7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181818"/>
                </a:solidFill>
                <a:latin typeface="Calibri"/>
                <a:cs typeface="Calibri"/>
              </a:rPr>
              <a:t>or </a:t>
            </a:r>
            <a:r>
              <a:rPr sz="3600" spc="-45" dirty="0">
                <a:solidFill>
                  <a:srgbClr val="1C1C1C"/>
                </a:solidFill>
                <a:latin typeface="Calibri"/>
                <a:cs typeface="Calibri"/>
              </a:rPr>
              <a:t>knowledge</a:t>
            </a:r>
            <a:r>
              <a:rPr sz="3600" spc="1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151515"/>
                </a:solidFill>
                <a:latin typeface="Calibri"/>
                <a:cs typeface="Calibri"/>
              </a:rPr>
              <a:t>emerges.</a:t>
            </a:r>
            <a:r>
              <a:rPr sz="3600" spc="5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C1C1C"/>
                </a:solidFill>
                <a:latin typeface="Calibri"/>
                <a:cs typeface="Calibri"/>
              </a:rPr>
              <a:t>An</a:t>
            </a:r>
            <a:r>
              <a:rPr sz="3600" spc="-10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81818"/>
                </a:solidFill>
                <a:latin typeface="Calibri"/>
                <a:cs typeface="Calibri"/>
              </a:rPr>
              <a:t>outdated</a:t>
            </a:r>
            <a:r>
              <a:rPr sz="3600" spc="-6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11111"/>
                </a:solidFill>
                <a:latin typeface="Calibri"/>
                <a:cs typeface="Calibri"/>
              </a:rPr>
              <a:t>expert</a:t>
            </a:r>
            <a:r>
              <a:rPr sz="3600" spc="8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31313"/>
                </a:solidFill>
                <a:latin typeface="Calibri"/>
                <a:cs typeface="Calibri"/>
              </a:rPr>
              <a:t>system</a:t>
            </a:r>
            <a:r>
              <a:rPr sz="3600" spc="-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61616"/>
                </a:solidFill>
                <a:latin typeface="Calibri"/>
                <a:cs typeface="Calibri"/>
              </a:rPr>
              <a:t>is</a:t>
            </a:r>
            <a:r>
              <a:rPr sz="3600" spc="-8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151515"/>
                </a:solidFill>
                <a:latin typeface="Calibri"/>
                <a:cs typeface="Calibri"/>
              </a:rPr>
              <a:t>dangerous.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0450" y="1235075"/>
            <a:ext cx="16619855" cy="1096492"/>
          </a:xfrm>
          <a:prstGeom prst="rect">
            <a:avLst/>
          </a:prstGeom>
        </p:spPr>
        <p:txBody>
          <a:bodyPr vert="horz" wrap="square" lIns="0" tIns="80048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14"/>
              </a:spcBef>
            </a:pPr>
            <a:r>
              <a:rPr sz="6600" dirty="0">
                <a:solidFill>
                  <a:srgbClr val="033466"/>
                </a:solidFill>
                <a:latin typeface="Cambria"/>
                <a:cs typeface="Cambria"/>
              </a:rPr>
              <a:t>Beyond</a:t>
            </a:r>
            <a:r>
              <a:rPr sz="6600" spc="114" dirty="0">
                <a:solidFill>
                  <a:srgbClr val="033466"/>
                </a:solidFill>
                <a:latin typeface="Cambria"/>
                <a:cs typeface="Cambria"/>
              </a:rPr>
              <a:t> </a:t>
            </a:r>
            <a:r>
              <a:rPr sz="6600" dirty="0">
                <a:solidFill>
                  <a:srgbClr val="033660"/>
                </a:solidFill>
                <a:latin typeface="Cambria"/>
                <a:cs typeface="Cambria"/>
              </a:rPr>
              <a:t>Rules:</a:t>
            </a:r>
            <a:r>
              <a:rPr sz="6600" spc="-65" dirty="0">
                <a:solidFill>
                  <a:srgbClr val="033660"/>
                </a:solidFill>
                <a:latin typeface="Cambria"/>
                <a:cs typeface="Cambria"/>
              </a:rPr>
              <a:t> </a:t>
            </a:r>
            <a:r>
              <a:rPr sz="6600" dirty="0">
                <a:solidFill>
                  <a:srgbClr val="05365E"/>
                </a:solidFill>
                <a:latin typeface="Cambria"/>
                <a:cs typeface="Cambria"/>
              </a:rPr>
              <a:t>Different</a:t>
            </a:r>
            <a:r>
              <a:rPr sz="6600" spc="375" dirty="0">
                <a:solidFill>
                  <a:srgbClr val="05365E"/>
                </a:solidFill>
                <a:latin typeface="Cambria"/>
                <a:cs typeface="Cambria"/>
              </a:rPr>
              <a:t> </a:t>
            </a:r>
            <a:r>
              <a:rPr sz="6600" spc="80" dirty="0">
                <a:solidFill>
                  <a:srgbClr val="003A60"/>
                </a:solidFill>
                <a:latin typeface="Cambria"/>
                <a:cs typeface="Cambria"/>
              </a:rPr>
              <a:t>Types</a:t>
            </a:r>
            <a:r>
              <a:rPr sz="6600" spc="120" dirty="0">
                <a:solidFill>
                  <a:srgbClr val="003A60"/>
                </a:solidFill>
                <a:latin typeface="Cambria"/>
                <a:cs typeface="Cambria"/>
              </a:rPr>
              <a:t> </a:t>
            </a:r>
            <a:r>
              <a:rPr sz="6600" spc="65" dirty="0">
                <a:solidFill>
                  <a:srgbClr val="00426E"/>
                </a:solidFill>
                <a:latin typeface="Cambria"/>
                <a:cs typeface="Cambria"/>
              </a:rPr>
              <a:t>of</a:t>
            </a:r>
            <a:r>
              <a:rPr sz="6600" spc="105" dirty="0">
                <a:solidFill>
                  <a:srgbClr val="00426E"/>
                </a:solidFill>
                <a:latin typeface="Cambria"/>
                <a:cs typeface="Cambria"/>
              </a:rPr>
              <a:t> </a:t>
            </a:r>
            <a:r>
              <a:rPr sz="6600" spc="150" dirty="0">
                <a:solidFill>
                  <a:srgbClr val="003866"/>
                </a:solidFill>
                <a:latin typeface="Cambria"/>
                <a:cs typeface="Cambria"/>
              </a:rPr>
              <a:t>ES</a:t>
            </a:r>
            <a:endParaRPr sz="6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47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3867"/>
                </a:solidFill>
                <a:latin typeface="Cambria"/>
                <a:cs typeface="Cambria"/>
              </a:rPr>
              <a:t>Why</a:t>
            </a:r>
            <a:r>
              <a:rPr spc="-300" dirty="0">
                <a:solidFill>
                  <a:srgbClr val="003867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003866"/>
                </a:solidFill>
                <a:latin typeface="Cambria"/>
                <a:cs typeface="Cambria"/>
              </a:rPr>
              <a:t>Expert</a:t>
            </a:r>
            <a:r>
              <a:rPr spc="-225" dirty="0">
                <a:solidFill>
                  <a:srgbClr val="003866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003457"/>
                </a:solidFill>
                <a:latin typeface="Cambria"/>
                <a:cs typeface="Cambria"/>
              </a:rPr>
              <a:t>Systems</a:t>
            </a:r>
            <a:r>
              <a:rPr spc="-320" dirty="0">
                <a:solidFill>
                  <a:srgbClr val="003457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003662"/>
                </a:solidFill>
                <a:latin typeface="Cambria"/>
                <a:cs typeface="Cambria"/>
              </a:rPr>
              <a:t>Matter</a:t>
            </a:r>
            <a:r>
              <a:rPr spc="-290" dirty="0">
                <a:solidFill>
                  <a:srgbClr val="003662"/>
                </a:solidFill>
                <a:latin typeface="Cambria"/>
                <a:cs typeface="Cambria"/>
              </a:rPr>
              <a:t> </a:t>
            </a:r>
            <a:r>
              <a:rPr spc="-120" dirty="0">
                <a:solidFill>
                  <a:srgbClr val="033D5B"/>
                </a:solidFill>
                <a:latin typeface="Cambria"/>
                <a:cs typeface="Cambria"/>
              </a:rPr>
              <a:t>(and</a:t>
            </a:r>
            <a:r>
              <a:rPr spc="-190" dirty="0">
                <a:solidFill>
                  <a:srgbClr val="033D5B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033660"/>
                </a:solidFill>
                <a:latin typeface="Cambria"/>
                <a:cs typeface="Cambria"/>
              </a:rPr>
              <a:t>their</a:t>
            </a:r>
            <a:r>
              <a:rPr spc="-235" dirty="0">
                <a:solidFill>
                  <a:srgbClr val="033660"/>
                </a:solidFill>
                <a:latin typeface="Cambria"/>
                <a:cs typeface="Cambria"/>
              </a:rPr>
              <a:t> </a:t>
            </a:r>
            <a:r>
              <a:rPr spc="-10" dirty="0">
                <a:solidFill>
                  <a:srgbClr val="003667"/>
                </a:solidFill>
                <a:latin typeface="Cambria"/>
                <a:cs typeface="Cambria"/>
              </a:rPr>
              <a:t>Limits)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3250" y="2911475"/>
            <a:ext cx="8638540" cy="6105710"/>
          </a:xfrm>
          <a:prstGeom prst="rect">
            <a:avLst/>
          </a:prstGeom>
          <a:ln w="23559">
            <a:solidFill>
              <a:srgbClr val="0C4B70"/>
            </a:solidFill>
          </a:ln>
        </p:spPr>
        <p:txBody>
          <a:bodyPr vert="horz" wrap="square" lIns="0" tIns="492125" rIns="0" bIns="0" rtlCol="0">
            <a:spAutoFit/>
          </a:bodyPr>
          <a:lstStyle/>
          <a:p>
            <a:pPr marL="610235">
              <a:lnSpc>
                <a:spcPct val="100000"/>
              </a:lnSpc>
              <a:spcBef>
                <a:spcPts val="3875"/>
              </a:spcBef>
            </a:pPr>
            <a:r>
              <a:rPr sz="4750" b="1" spc="-50" dirty="0">
                <a:solidFill>
                  <a:srgbClr val="18C6A0"/>
                </a:solidFill>
                <a:latin typeface="Cambria"/>
                <a:cs typeface="Cambria"/>
              </a:rPr>
              <a:t> </a:t>
            </a:r>
            <a:r>
              <a:rPr sz="4750" b="1" spc="-295" dirty="0">
                <a:solidFill>
                  <a:srgbClr val="004D85"/>
                </a:solidFill>
                <a:latin typeface="Cambria"/>
                <a:cs typeface="Cambria"/>
              </a:rPr>
              <a:t>Advantages</a:t>
            </a:r>
            <a:endParaRPr sz="4750" dirty="0">
              <a:latin typeface="Cambria"/>
              <a:cs typeface="Cambria"/>
            </a:endParaRPr>
          </a:p>
          <a:p>
            <a:pPr marL="1014730" marR="1304925" indent="-319405">
              <a:lnSpc>
                <a:spcPct val="109100"/>
              </a:lnSpc>
              <a:spcBef>
                <a:spcPts val="1600"/>
              </a:spcBef>
              <a:buClr>
                <a:srgbClr val="2A2A2A"/>
              </a:buClr>
              <a:buChar char="•"/>
              <a:tabLst>
                <a:tab pos="1017269" algn="l"/>
              </a:tabLst>
            </a:pPr>
            <a:r>
              <a:rPr sz="2550" b="1" dirty="0">
                <a:solidFill>
                  <a:srgbClr val="161616"/>
                </a:solidFill>
                <a:latin typeface="Calibri"/>
                <a:cs typeface="Calibri"/>
              </a:rPr>
              <a:t>C</a:t>
            </a:r>
            <a:r>
              <a:rPr sz="3600" b="1" dirty="0">
                <a:solidFill>
                  <a:srgbClr val="161616"/>
                </a:solidFill>
                <a:latin typeface="Calibri"/>
                <a:cs typeface="Calibri"/>
              </a:rPr>
              <a:t>onsistency</a:t>
            </a:r>
            <a:r>
              <a:rPr sz="3600" dirty="0">
                <a:solidFill>
                  <a:srgbClr val="161616"/>
                </a:solidFill>
                <a:latin typeface="Calibri"/>
                <a:cs typeface="Calibri"/>
              </a:rPr>
              <a:t>:</a:t>
            </a:r>
            <a:r>
              <a:rPr sz="3600" spc="-114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11111"/>
                </a:solidFill>
                <a:latin typeface="Calibri"/>
                <a:cs typeface="Calibri"/>
              </a:rPr>
              <a:t>They</a:t>
            </a:r>
            <a:r>
              <a:rPr sz="3600" spc="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212121"/>
                </a:solidFill>
                <a:latin typeface="Calibri"/>
                <a:cs typeface="Calibri"/>
              </a:rPr>
              <a:t>make</a:t>
            </a:r>
            <a:r>
              <a:rPr sz="3600" spc="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600" spc="-30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3600" spc="-7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1A1A1A"/>
                </a:solidFill>
                <a:latin typeface="Calibri"/>
                <a:cs typeface="Calibri"/>
              </a:rPr>
              <a:t>same,</a:t>
            </a:r>
            <a:r>
              <a:rPr sz="3600" spc="-1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1C1C1C"/>
                </a:solidFill>
                <a:latin typeface="Calibri"/>
                <a:cs typeface="Calibri"/>
              </a:rPr>
              <a:t>unbiased </a:t>
            </a:r>
            <a:r>
              <a:rPr sz="3600" dirty="0">
                <a:solidFill>
                  <a:srgbClr val="1D1D1D"/>
                </a:solidFill>
                <a:latin typeface="Calibri"/>
                <a:cs typeface="Calibri"/>
              </a:rPr>
              <a:t>decision</a:t>
            </a:r>
            <a:r>
              <a:rPr sz="3600" spc="-15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31313"/>
                </a:solidFill>
                <a:latin typeface="Calibri"/>
                <a:cs typeface="Calibri"/>
              </a:rPr>
              <a:t>every</a:t>
            </a:r>
            <a:r>
              <a:rPr sz="3600" spc="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1F1F1F"/>
                </a:solidFill>
                <a:latin typeface="Calibri"/>
                <a:cs typeface="Calibri"/>
              </a:rPr>
              <a:t>time.</a:t>
            </a:r>
            <a:endParaRPr sz="3600" dirty="0">
              <a:latin typeface="Calibri"/>
              <a:cs typeface="Calibri"/>
            </a:endParaRPr>
          </a:p>
          <a:p>
            <a:pPr marL="1014730" marR="719455" indent="-319405">
              <a:lnSpc>
                <a:spcPct val="109100"/>
              </a:lnSpc>
              <a:spcBef>
                <a:spcPts val="1795"/>
              </a:spcBef>
              <a:buClr>
                <a:srgbClr val="262626"/>
              </a:buClr>
              <a:buChar char="•"/>
              <a:tabLst>
                <a:tab pos="1016000" algn="l"/>
              </a:tabLst>
            </a:pPr>
            <a:r>
              <a:rPr sz="3600" b="1" spc="-20" dirty="0">
                <a:solidFill>
                  <a:srgbClr val="1A1A1A"/>
                </a:solidFill>
                <a:latin typeface="Calibri"/>
                <a:cs typeface="Calibri"/>
              </a:rPr>
              <a:t>Availability</a:t>
            </a:r>
            <a:r>
              <a:rPr sz="3600" spc="-20" dirty="0">
                <a:solidFill>
                  <a:srgbClr val="1A1A1A"/>
                </a:solidFill>
                <a:latin typeface="Calibri"/>
                <a:cs typeface="Calibri"/>
              </a:rPr>
              <a:t>:</a:t>
            </a:r>
            <a:r>
              <a:rPr lang="en-IN" sz="36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D1D1D"/>
                </a:solidFill>
                <a:latin typeface="Calibri"/>
                <a:cs typeface="Calibri"/>
              </a:rPr>
              <a:t>They</a:t>
            </a:r>
            <a:r>
              <a:rPr sz="3600" spc="2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0F213F"/>
                </a:solidFill>
                <a:latin typeface="Calibri"/>
                <a:cs typeface="Calibri"/>
              </a:rPr>
              <a:t>work </a:t>
            </a:r>
            <a:r>
              <a:rPr sz="3600" spc="-10" dirty="0">
                <a:solidFill>
                  <a:srgbClr val="1D1D1D"/>
                </a:solidFill>
                <a:latin typeface="Calibri"/>
                <a:cs typeface="Calibri"/>
              </a:rPr>
              <a:t>24/7</a:t>
            </a:r>
            <a:r>
              <a:rPr sz="3600" spc="-1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A3457"/>
                </a:solidFill>
                <a:latin typeface="Calibri"/>
                <a:cs typeface="Calibri"/>
              </a:rPr>
              <a:t>and</a:t>
            </a:r>
            <a:r>
              <a:rPr sz="3600" spc="-145" dirty="0">
                <a:solidFill>
                  <a:srgbClr val="1A3457"/>
                </a:solidFill>
                <a:latin typeface="Calibri"/>
                <a:cs typeface="Calibri"/>
              </a:rPr>
              <a:t> </a:t>
            </a:r>
            <a:r>
              <a:rPr sz="3600" spc="-30" dirty="0">
                <a:solidFill>
                  <a:srgbClr val="1D1D1D"/>
                </a:solidFill>
                <a:latin typeface="Calibri"/>
                <a:cs typeface="Calibri"/>
              </a:rPr>
              <a:t>never</a:t>
            </a:r>
            <a:r>
              <a:rPr sz="3600" spc="6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232323"/>
                </a:solidFill>
                <a:latin typeface="Calibri"/>
                <a:cs typeface="Calibri"/>
              </a:rPr>
              <a:t>get</a:t>
            </a:r>
            <a:r>
              <a:rPr sz="36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D1D1D"/>
                </a:solidFill>
                <a:latin typeface="Calibri"/>
                <a:cs typeface="Calibri"/>
              </a:rPr>
              <a:t>sick</a:t>
            </a:r>
            <a:r>
              <a:rPr sz="3600" spc="-8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212121"/>
                </a:solidFill>
                <a:latin typeface="Calibri"/>
                <a:cs typeface="Calibri"/>
              </a:rPr>
              <a:t>or </a:t>
            </a:r>
            <a:r>
              <a:rPr sz="3600" spc="-10" dirty="0">
                <a:solidFill>
                  <a:srgbClr val="1F1F1F"/>
                </a:solidFill>
                <a:latin typeface="Calibri"/>
                <a:cs typeface="Calibri"/>
              </a:rPr>
              <a:t>retire.</a:t>
            </a:r>
            <a:endParaRPr sz="3600" dirty="0">
              <a:latin typeface="Calibri"/>
              <a:cs typeface="Calibri"/>
            </a:endParaRPr>
          </a:p>
          <a:p>
            <a:pPr marL="1014730" marR="1323340" indent="-320040">
              <a:lnSpc>
                <a:spcPct val="109100"/>
              </a:lnSpc>
              <a:spcBef>
                <a:spcPts val="1914"/>
              </a:spcBef>
              <a:buClr>
                <a:srgbClr val="282828"/>
              </a:buClr>
              <a:buChar char="•"/>
              <a:tabLst>
                <a:tab pos="1017269" algn="l"/>
              </a:tabLst>
            </a:pPr>
            <a:r>
              <a:rPr sz="3600" b="1" dirty="0">
                <a:solidFill>
                  <a:srgbClr val="1A1A1A"/>
                </a:solidFill>
                <a:latin typeface="Calibri"/>
                <a:cs typeface="Calibri"/>
              </a:rPr>
              <a:t>Knowledge</a:t>
            </a:r>
            <a:r>
              <a:rPr sz="3600" spc="-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600" b="1" spc="-55" dirty="0">
                <a:solidFill>
                  <a:srgbClr val="181818"/>
                </a:solidFill>
                <a:latin typeface="Calibri"/>
                <a:cs typeface="Calibri"/>
              </a:rPr>
              <a:t>Preservation</a:t>
            </a:r>
            <a:r>
              <a:rPr sz="3600" spc="-55" dirty="0">
                <a:solidFill>
                  <a:srgbClr val="181818"/>
                </a:solidFill>
                <a:latin typeface="Calibri"/>
                <a:cs typeface="Calibri"/>
              </a:rPr>
              <a:t>:</a:t>
            </a:r>
            <a:r>
              <a:rPr sz="3600" spc="-4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61616"/>
                </a:solidFill>
                <a:latin typeface="Calibri"/>
                <a:cs typeface="Calibri"/>
              </a:rPr>
              <a:t>They</a:t>
            </a:r>
            <a:r>
              <a:rPr sz="3600" spc="-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31313"/>
                </a:solidFill>
                <a:latin typeface="Calibri"/>
                <a:cs typeface="Calibri"/>
              </a:rPr>
              <a:t>save</a:t>
            </a:r>
            <a:r>
              <a:rPr sz="3600" spc="-3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282828"/>
                </a:solidFill>
                <a:latin typeface="Calibri"/>
                <a:cs typeface="Calibri"/>
              </a:rPr>
              <a:t>valuable 	</a:t>
            </a:r>
            <a:r>
              <a:rPr sz="3600" dirty="0">
                <a:solidFill>
                  <a:srgbClr val="1A1A1A"/>
                </a:solidFill>
                <a:latin typeface="Calibri"/>
                <a:cs typeface="Calibri"/>
              </a:rPr>
              <a:t>expert</a:t>
            </a:r>
            <a:r>
              <a:rPr sz="3600" spc="-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600" spc="-40" dirty="0">
                <a:solidFill>
                  <a:srgbClr val="1C1C1C"/>
                </a:solidFill>
                <a:latin typeface="Calibri"/>
                <a:cs typeface="Calibri"/>
              </a:rPr>
              <a:t>knowledge</a:t>
            </a:r>
            <a:r>
              <a:rPr sz="3600" spc="7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181818"/>
                </a:solidFill>
                <a:latin typeface="Calibri"/>
                <a:cs typeface="Calibri"/>
              </a:rPr>
              <a:t>that</a:t>
            </a:r>
            <a:r>
              <a:rPr sz="3600" spc="-8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2F425D"/>
                </a:solidFill>
                <a:latin typeface="Calibri"/>
                <a:cs typeface="Calibri"/>
              </a:rPr>
              <a:t>might</a:t>
            </a:r>
            <a:r>
              <a:rPr sz="3600" spc="-50" dirty="0">
                <a:solidFill>
                  <a:srgbClr val="2F425D"/>
                </a:solidFill>
                <a:latin typeface="Calibri"/>
                <a:cs typeface="Calibri"/>
              </a:rPr>
              <a:t> </a:t>
            </a:r>
            <a:r>
              <a:rPr sz="3600" spc="-30" dirty="0">
                <a:solidFill>
                  <a:srgbClr val="181818"/>
                </a:solidFill>
                <a:latin typeface="Calibri"/>
                <a:cs typeface="Calibri"/>
              </a:rPr>
              <a:t>otherwise</a:t>
            </a:r>
            <a:r>
              <a:rPr sz="3600" spc="-4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282828"/>
                </a:solidFill>
                <a:latin typeface="Calibri"/>
                <a:cs typeface="Calibri"/>
              </a:rPr>
              <a:t>be</a:t>
            </a:r>
            <a:r>
              <a:rPr sz="3600" spc="-14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1F1F1F"/>
                </a:solidFill>
                <a:latin typeface="Calibri"/>
                <a:cs typeface="Calibri"/>
              </a:rPr>
              <a:t>lost.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04450" y="2926422"/>
            <a:ext cx="8793090" cy="6159443"/>
          </a:xfrm>
          <a:prstGeom prst="rect">
            <a:avLst/>
          </a:prstGeom>
          <a:ln w="23559">
            <a:solidFill>
              <a:srgbClr val="134870"/>
            </a:solidFill>
          </a:ln>
        </p:spPr>
        <p:txBody>
          <a:bodyPr vert="horz" wrap="square" lIns="0" tIns="511175" rIns="0" bIns="0" rtlCol="0">
            <a:spAutoFit/>
          </a:bodyPr>
          <a:lstStyle/>
          <a:p>
            <a:pPr marL="608330">
              <a:lnSpc>
                <a:spcPct val="100000"/>
              </a:lnSpc>
              <a:spcBef>
                <a:spcPts val="4025"/>
              </a:spcBef>
              <a:tabLst>
                <a:tab pos="1279525" algn="l"/>
              </a:tabLst>
            </a:pPr>
            <a:r>
              <a:rPr lang="en-IN" sz="4400" b="1" spc="-65" dirty="0">
                <a:solidFill>
                  <a:srgbClr val="00528E"/>
                </a:solidFill>
                <a:latin typeface="Cambria"/>
                <a:cs typeface="Cambria"/>
              </a:rPr>
              <a:t>Limitations</a:t>
            </a:r>
            <a:endParaRPr sz="4400" dirty="0">
              <a:latin typeface="Cambria"/>
              <a:cs typeface="Cambria"/>
            </a:endParaRPr>
          </a:p>
          <a:p>
            <a:pPr marL="1014730" marR="767080" indent="-320040">
              <a:lnSpc>
                <a:spcPct val="109100"/>
              </a:lnSpc>
              <a:spcBef>
                <a:spcPts val="1630"/>
              </a:spcBef>
              <a:buClr>
                <a:srgbClr val="262626"/>
              </a:buClr>
              <a:buChar char="•"/>
              <a:tabLst>
                <a:tab pos="1017905" algn="l"/>
              </a:tabLst>
            </a:pPr>
            <a:r>
              <a:rPr sz="3200" b="1" dirty="0">
                <a:solidFill>
                  <a:srgbClr val="1A1A1A"/>
                </a:solidFill>
                <a:latin typeface="Calibri"/>
                <a:cs typeface="Calibri"/>
              </a:rPr>
              <a:t>No</a:t>
            </a:r>
            <a:r>
              <a:rPr sz="3200" b="1" spc="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1F1F"/>
                </a:solidFill>
                <a:latin typeface="Calibri"/>
                <a:cs typeface="Calibri"/>
              </a:rPr>
              <a:t>Common</a:t>
            </a:r>
            <a:r>
              <a:rPr sz="3200" b="1" spc="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b="1" spc="105" dirty="0">
                <a:solidFill>
                  <a:srgbClr val="111111"/>
                </a:solidFill>
                <a:latin typeface="Calibri"/>
                <a:cs typeface="Calibri"/>
              </a:rPr>
              <a:t>Sense</a:t>
            </a:r>
            <a:r>
              <a:rPr sz="3200" spc="105" dirty="0">
                <a:solidFill>
                  <a:srgbClr val="111111"/>
                </a:solidFill>
                <a:latin typeface="Calibri"/>
                <a:cs typeface="Calibri"/>
              </a:rPr>
              <a:t>:</a:t>
            </a:r>
            <a:r>
              <a:rPr sz="3200" spc="1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E0E0E"/>
                </a:solidFill>
                <a:latin typeface="Calibri"/>
                <a:cs typeface="Calibri"/>
              </a:rPr>
              <a:t>They</a:t>
            </a:r>
            <a:r>
              <a:rPr sz="3200" spc="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81818"/>
                </a:solidFill>
                <a:latin typeface="Calibri"/>
                <a:cs typeface="Calibri"/>
              </a:rPr>
              <a:t>cannot</a:t>
            </a:r>
            <a:r>
              <a:rPr sz="3200" spc="6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F0F0F"/>
                </a:solidFill>
                <a:latin typeface="Calibri"/>
                <a:cs typeface="Calibri"/>
              </a:rPr>
              <a:t>reason</a:t>
            </a:r>
            <a:r>
              <a:rPr sz="3200" spc="-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C1C1C"/>
                </a:solidFill>
                <a:latin typeface="Calibri"/>
                <a:cs typeface="Calibri"/>
              </a:rPr>
              <a:t>outside </a:t>
            </a:r>
            <a:r>
              <a:rPr sz="3200" dirty="0">
                <a:solidFill>
                  <a:srgbClr val="131313"/>
                </a:solidFill>
                <a:latin typeface="Calibri"/>
                <a:cs typeface="Calibri"/>
              </a:rPr>
              <a:t>of</a:t>
            </a:r>
            <a:r>
              <a:rPr sz="3200" spc="-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1D1D1D"/>
                </a:solidFill>
                <a:latin typeface="Calibri"/>
                <a:cs typeface="Calibri"/>
              </a:rPr>
              <a:t>their</a:t>
            </a:r>
            <a:r>
              <a:rPr sz="3200" spc="-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181818"/>
                </a:solidFill>
                <a:latin typeface="Calibri"/>
                <a:cs typeface="Calibri"/>
              </a:rPr>
              <a:t>defined</a:t>
            </a:r>
            <a:r>
              <a:rPr sz="3200" spc="-10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51515"/>
                </a:solidFill>
                <a:latin typeface="Calibri"/>
                <a:cs typeface="Calibri"/>
              </a:rPr>
              <a:t>rules.</a:t>
            </a:r>
            <a:endParaRPr sz="3200" dirty="0">
              <a:latin typeface="Calibri"/>
              <a:cs typeface="Calibri"/>
            </a:endParaRPr>
          </a:p>
          <a:p>
            <a:pPr marL="1019175" marR="728980" indent="-323850">
              <a:lnSpc>
                <a:spcPct val="111100"/>
              </a:lnSpc>
              <a:spcBef>
                <a:spcPts val="1735"/>
              </a:spcBef>
              <a:buChar char="•"/>
              <a:tabLst>
                <a:tab pos="1019175" algn="l"/>
                <a:tab pos="1033144" algn="l"/>
              </a:tabLst>
            </a:pPr>
            <a:r>
              <a:rPr sz="3200" dirty="0">
                <a:solidFill>
                  <a:srgbClr val="2A2A2A"/>
                </a:solidFill>
                <a:latin typeface="Calibri"/>
                <a:cs typeface="Calibri"/>
              </a:rPr>
              <a:t>	</a:t>
            </a:r>
            <a:r>
              <a:rPr sz="3200" b="1" dirty="0">
                <a:solidFill>
                  <a:srgbClr val="212121"/>
                </a:solidFill>
                <a:latin typeface="Calibri"/>
                <a:cs typeface="Calibri"/>
              </a:rPr>
              <a:t>High</a:t>
            </a:r>
            <a:r>
              <a:rPr sz="3200" b="1" spc="-1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b="1" spc="45" dirty="0">
                <a:solidFill>
                  <a:srgbClr val="181818"/>
                </a:solidFill>
                <a:latin typeface="Calibri"/>
                <a:cs typeface="Calibri"/>
              </a:rPr>
              <a:t>Cost</a:t>
            </a:r>
            <a:r>
              <a:rPr sz="3200" spc="45" dirty="0">
                <a:solidFill>
                  <a:srgbClr val="181818"/>
                </a:solidFill>
                <a:latin typeface="Calibri"/>
                <a:cs typeface="Calibri"/>
              </a:rPr>
              <a:t>:</a:t>
            </a:r>
            <a:r>
              <a:rPr sz="3200" spc="-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1F1F1F"/>
                </a:solidFill>
                <a:latin typeface="Calibri"/>
                <a:cs typeface="Calibri"/>
              </a:rPr>
              <a:t>Developing</a:t>
            </a:r>
            <a:r>
              <a:rPr sz="3200" spc="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3200" spc="-1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-70" dirty="0">
                <a:solidFill>
                  <a:srgbClr val="1D1D1D"/>
                </a:solidFill>
                <a:latin typeface="Calibri"/>
                <a:cs typeface="Calibri"/>
              </a:rPr>
              <a:t>initial </a:t>
            </a:r>
            <a:r>
              <a:rPr sz="3200" spc="-35" dirty="0">
                <a:solidFill>
                  <a:srgbClr val="1C1C1C"/>
                </a:solidFill>
                <a:latin typeface="Calibri"/>
                <a:cs typeface="Calibri"/>
              </a:rPr>
              <a:t>Knowledge</a:t>
            </a:r>
            <a:r>
              <a:rPr sz="3200" spc="3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1D1D1D"/>
                </a:solidFill>
                <a:latin typeface="Calibri"/>
                <a:cs typeface="Calibri"/>
              </a:rPr>
              <a:t>Base </a:t>
            </a:r>
            <a:r>
              <a:rPr sz="3200"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3200" spc="-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31313"/>
                </a:solidFill>
                <a:latin typeface="Calibri"/>
                <a:cs typeface="Calibri"/>
              </a:rPr>
              <a:t>very</a:t>
            </a:r>
            <a:r>
              <a:rPr sz="3200" spc="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131313"/>
                </a:solidFill>
                <a:latin typeface="Calibri"/>
                <a:cs typeface="Calibri"/>
              </a:rPr>
              <a:t>expensive</a:t>
            </a:r>
            <a:r>
              <a:rPr sz="3200" spc="14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62626"/>
                </a:solidFill>
                <a:latin typeface="Calibri"/>
                <a:cs typeface="Calibri"/>
              </a:rPr>
              <a:t>and</a:t>
            </a:r>
            <a:r>
              <a:rPr sz="32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200" spc="-140" dirty="0">
                <a:solidFill>
                  <a:srgbClr val="181818"/>
                </a:solidFill>
                <a:latin typeface="Calibri"/>
                <a:cs typeface="Calibri"/>
              </a:rPr>
              <a:t>time—</a:t>
            </a:r>
            <a:r>
              <a:rPr sz="3200" spc="-10" dirty="0">
                <a:solidFill>
                  <a:srgbClr val="181818"/>
                </a:solidFill>
                <a:latin typeface="Calibri"/>
                <a:cs typeface="Calibri"/>
              </a:rPr>
              <a:t>consuming.</a:t>
            </a:r>
            <a:endParaRPr sz="3200" dirty="0">
              <a:latin typeface="Calibri"/>
              <a:cs typeface="Calibri"/>
            </a:endParaRPr>
          </a:p>
          <a:p>
            <a:pPr marL="1025525" marR="1338580" indent="-330835">
              <a:lnSpc>
                <a:spcPct val="111100"/>
              </a:lnSpc>
              <a:spcBef>
                <a:spcPts val="1730"/>
              </a:spcBef>
              <a:buChar char="•"/>
              <a:tabLst>
                <a:tab pos="1025525" algn="l"/>
                <a:tab pos="1033144" algn="l"/>
              </a:tabLst>
            </a:pPr>
            <a:r>
              <a:rPr sz="32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200" b="1" dirty="0">
                <a:solidFill>
                  <a:srgbClr val="131313"/>
                </a:solidFill>
                <a:latin typeface="Calibri"/>
                <a:cs typeface="Calibri"/>
              </a:rPr>
              <a:t>Limited</a:t>
            </a:r>
            <a:r>
              <a:rPr sz="3200" b="1" spc="-10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200" b="1" spc="-75" dirty="0">
                <a:solidFill>
                  <a:srgbClr val="181818"/>
                </a:solidFill>
                <a:latin typeface="Calibri"/>
                <a:cs typeface="Calibri"/>
              </a:rPr>
              <a:t>Learning</a:t>
            </a:r>
            <a:r>
              <a:rPr sz="3200" spc="-75" dirty="0">
                <a:solidFill>
                  <a:srgbClr val="181818"/>
                </a:solidFill>
                <a:latin typeface="Calibri"/>
                <a:cs typeface="Calibri"/>
              </a:rPr>
              <a:t>:</a:t>
            </a:r>
            <a:r>
              <a:rPr sz="3200" spc="14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-60" dirty="0">
                <a:solidFill>
                  <a:srgbClr val="181818"/>
                </a:solidFill>
                <a:latin typeface="Calibri"/>
                <a:cs typeface="Calibri"/>
              </a:rPr>
              <a:t>Traditional</a:t>
            </a:r>
            <a:r>
              <a:rPr sz="3200" spc="3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90" dirty="0">
                <a:solidFill>
                  <a:srgbClr val="1D1D1D"/>
                </a:solidFill>
                <a:latin typeface="Calibri"/>
                <a:cs typeface="Calibri"/>
              </a:rPr>
              <a:t>ES</a:t>
            </a:r>
            <a:r>
              <a:rPr sz="3200" spc="-14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do</a:t>
            </a:r>
            <a:r>
              <a:rPr sz="3200" spc="-5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81818"/>
                </a:solidFill>
                <a:latin typeface="Calibri"/>
                <a:cs typeface="Calibri"/>
              </a:rPr>
              <a:t>not</a:t>
            </a:r>
            <a:r>
              <a:rPr sz="3200" spc="-5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D1D1D"/>
                </a:solidFill>
                <a:latin typeface="Calibri"/>
                <a:cs typeface="Calibri"/>
              </a:rPr>
              <a:t>learn </a:t>
            </a:r>
            <a:r>
              <a:rPr sz="3200" spc="-30" dirty="0">
                <a:solidFill>
                  <a:srgbClr val="181818"/>
                </a:solidFill>
                <a:latin typeface="Calibri"/>
                <a:cs typeface="Calibri"/>
              </a:rPr>
              <a:t>automatically;</a:t>
            </a:r>
            <a:r>
              <a:rPr sz="3200" spc="-114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they</a:t>
            </a:r>
            <a:r>
              <a:rPr sz="3200" spc="-1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1C1C1C"/>
                </a:solidFill>
                <a:latin typeface="Calibri"/>
                <a:cs typeface="Calibri"/>
              </a:rPr>
              <a:t>require</a:t>
            </a:r>
            <a:r>
              <a:rPr sz="3200" spc="-5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1C1C1C"/>
                </a:solidFill>
                <a:latin typeface="Calibri"/>
                <a:cs typeface="Calibri"/>
              </a:rPr>
              <a:t>manual</a:t>
            </a:r>
            <a:r>
              <a:rPr sz="3200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11111"/>
                </a:solidFill>
                <a:latin typeface="Calibri"/>
                <a:cs typeface="Calibri"/>
              </a:rPr>
              <a:t>updates.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3565336"/>
            <a:ext cx="4319240" cy="35339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5746" y="3565336"/>
            <a:ext cx="4319240" cy="35339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9113" y="3565336"/>
            <a:ext cx="4319240" cy="35339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42480" y="3565336"/>
            <a:ext cx="4319240" cy="353392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42378" y="1158875"/>
            <a:ext cx="16619855" cy="968375"/>
          </a:xfrm>
          <a:prstGeom prst="rect">
            <a:avLst/>
          </a:prstGeom>
        </p:spPr>
        <p:txBody>
          <a:bodyPr vert="horz" wrap="square" lIns="0" tIns="7219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650" spc="85" dirty="0">
                <a:solidFill>
                  <a:srgbClr val="003B64"/>
                </a:solidFill>
                <a:latin typeface="Cambria"/>
                <a:cs typeface="Cambria"/>
              </a:rPr>
              <a:t>Classic</a:t>
            </a:r>
            <a:r>
              <a:rPr sz="5650" spc="55" dirty="0">
                <a:solidFill>
                  <a:srgbClr val="003B64"/>
                </a:solidFill>
                <a:latin typeface="Cambria"/>
                <a:cs typeface="Cambria"/>
              </a:rPr>
              <a:t> </a:t>
            </a:r>
            <a:r>
              <a:rPr sz="5650" dirty="0">
                <a:solidFill>
                  <a:srgbClr val="013660"/>
                </a:solidFill>
                <a:latin typeface="Cambria"/>
                <a:cs typeface="Cambria"/>
              </a:rPr>
              <a:t>Examples</a:t>
            </a:r>
            <a:r>
              <a:rPr sz="5650" spc="215" dirty="0">
                <a:solidFill>
                  <a:srgbClr val="013660"/>
                </a:solidFill>
                <a:latin typeface="Cambria"/>
                <a:cs typeface="Cambria"/>
              </a:rPr>
              <a:t> </a:t>
            </a:r>
            <a:r>
              <a:rPr sz="5650" spc="229" dirty="0">
                <a:solidFill>
                  <a:srgbClr val="033A62"/>
                </a:solidFill>
                <a:latin typeface="Cambria"/>
                <a:cs typeface="Cambria"/>
              </a:rPr>
              <a:t>in</a:t>
            </a:r>
            <a:r>
              <a:rPr sz="5650" spc="-254" dirty="0">
                <a:solidFill>
                  <a:srgbClr val="033A62"/>
                </a:solidFill>
                <a:latin typeface="Cambria"/>
                <a:cs typeface="Cambria"/>
              </a:rPr>
              <a:t> </a:t>
            </a:r>
            <a:r>
              <a:rPr sz="5650" spc="-10" dirty="0">
                <a:solidFill>
                  <a:srgbClr val="003862"/>
                </a:solidFill>
                <a:latin typeface="Cambria"/>
                <a:cs typeface="Cambria"/>
              </a:rPr>
              <a:t>Action</a:t>
            </a:r>
            <a:endParaRPr sz="565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2538" y="7344405"/>
            <a:ext cx="354711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00"/>
              </a:spcBef>
            </a:pPr>
            <a:r>
              <a:rPr sz="3350" spc="-190" dirty="0">
                <a:solidFill>
                  <a:srgbClr val="0A5785"/>
                </a:solidFill>
                <a:latin typeface="Times New Roman"/>
                <a:cs typeface="Times New Roman"/>
              </a:rPr>
              <a:t>DENDRAL</a:t>
            </a:r>
            <a:r>
              <a:rPr sz="3350" spc="-5" dirty="0">
                <a:solidFill>
                  <a:srgbClr val="0A5785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004F8C"/>
                </a:solidFill>
                <a:latin typeface="Times New Roman"/>
                <a:cs typeface="Times New Roman"/>
              </a:rPr>
              <a:t>(1960s)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sz="2200" dirty="0">
                <a:solidFill>
                  <a:srgbClr val="1F1F1F"/>
                </a:solidFill>
                <a:latin typeface="Calibri"/>
                <a:cs typeface="Calibri"/>
              </a:rPr>
              <a:t>Identified</a:t>
            </a:r>
            <a:r>
              <a:rPr sz="2200" spc="8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A1A1A"/>
                </a:solidFill>
                <a:latin typeface="Calibri"/>
                <a:cs typeface="Calibri"/>
              </a:rPr>
              <a:t>chemical</a:t>
            </a:r>
            <a:r>
              <a:rPr sz="2200" spc="1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E0E0E"/>
                </a:solidFill>
                <a:latin typeface="Calibri"/>
                <a:cs typeface="Calibri"/>
              </a:rPr>
              <a:t>structures.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8954" y="7344405"/>
            <a:ext cx="4298315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970" algn="ctr">
              <a:lnSpc>
                <a:spcPct val="100000"/>
              </a:lnSpc>
              <a:spcBef>
                <a:spcPts val="100"/>
              </a:spcBef>
            </a:pPr>
            <a:r>
              <a:rPr sz="3350" spc="-190" dirty="0">
                <a:solidFill>
                  <a:srgbClr val="055697"/>
                </a:solidFill>
                <a:latin typeface="Times New Roman"/>
                <a:cs typeface="Times New Roman"/>
              </a:rPr>
              <a:t>MYCIN</a:t>
            </a:r>
            <a:r>
              <a:rPr sz="3350" spc="-20" dirty="0">
                <a:solidFill>
                  <a:srgbClr val="055697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005690"/>
                </a:solidFill>
                <a:latin typeface="Times New Roman"/>
                <a:cs typeface="Times New Roman"/>
              </a:rPr>
              <a:t>(1970s)</a:t>
            </a:r>
            <a:endParaRPr sz="3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35"/>
              </a:spcBef>
            </a:pPr>
            <a:r>
              <a:rPr sz="2200" dirty="0">
                <a:solidFill>
                  <a:srgbClr val="1A1A1A"/>
                </a:solidFill>
                <a:latin typeface="Calibri"/>
                <a:cs typeface="Calibri"/>
              </a:rPr>
              <a:t>Diagnosed</a:t>
            </a:r>
            <a:r>
              <a:rPr sz="2200" spc="10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C1C1C"/>
                </a:solidFill>
                <a:latin typeface="Calibri"/>
                <a:cs typeface="Calibri"/>
              </a:rPr>
              <a:t>infectious</a:t>
            </a:r>
            <a:r>
              <a:rPr sz="2200" spc="8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A0A0A"/>
                </a:solidFill>
                <a:latin typeface="Calibri"/>
                <a:cs typeface="Calibri"/>
              </a:rPr>
              <a:t>blood</a:t>
            </a:r>
            <a:r>
              <a:rPr sz="2200" spc="5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11111"/>
                </a:solidFill>
                <a:latin typeface="Calibri"/>
                <a:cs typeface="Calibri"/>
              </a:rPr>
              <a:t>diseases.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85846" y="7344405"/>
            <a:ext cx="3358515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sz="3350" spc="-290" dirty="0">
                <a:solidFill>
                  <a:srgbClr val="0057A0"/>
                </a:solidFill>
                <a:latin typeface="Times New Roman"/>
                <a:cs typeface="Times New Roman"/>
              </a:rPr>
              <a:t>XCON</a:t>
            </a:r>
            <a:r>
              <a:rPr sz="3350" spc="160" dirty="0">
                <a:solidFill>
                  <a:srgbClr val="0057A0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114F79"/>
                </a:solidFill>
                <a:latin typeface="Times New Roman"/>
                <a:cs typeface="Times New Roman"/>
              </a:rPr>
              <a:t>/</a:t>
            </a:r>
            <a:r>
              <a:rPr sz="3350" spc="140" dirty="0">
                <a:solidFill>
                  <a:srgbClr val="114F79"/>
                </a:solidFill>
                <a:latin typeface="Times New Roman"/>
                <a:cs typeface="Times New Roman"/>
              </a:rPr>
              <a:t> </a:t>
            </a:r>
            <a:r>
              <a:rPr sz="3350" spc="-125" dirty="0">
                <a:solidFill>
                  <a:srgbClr val="004D85"/>
                </a:solidFill>
                <a:latin typeface="Times New Roman"/>
                <a:cs typeface="Times New Roman"/>
              </a:rPr>
              <a:t>R1</a:t>
            </a:r>
            <a:r>
              <a:rPr sz="3350" spc="-355" dirty="0">
                <a:solidFill>
                  <a:srgbClr val="004D85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01467E"/>
                </a:solidFill>
                <a:latin typeface="Times New Roman"/>
                <a:cs typeface="Times New Roman"/>
              </a:rPr>
              <a:t>(1980s)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sz="2200" dirty="0">
                <a:solidFill>
                  <a:srgbClr val="1A1A1A"/>
                </a:solidFill>
                <a:latin typeface="Calibri"/>
                <a:cs typeface="Calibri"/>
              </a:rPr>
              <a:t>Configured</a:t>
            </a:r>
            <a:r>
              <a:rPr sz="2200" spc="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31313"/>
                </a:solidFill>
                <a:latin typeface="Calibri"/>
                <a:cs typeface="Calibri"/>
              </a:rPr>
              <a:t>computer</a:t>
            </a:r>
            <a:r>
              <a:rPr sz="2200" spc="10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11111"/>
                </a:solidFill>
                <a:latin typeface="Calibri"/>
                <a:cs typeface="Calibri"/>
              </a:rPr>
              <a:t>orders.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60324" y="7352258"/>
            <a:ext cx="3277870" cy="150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065" algn="ctr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035489"/>
                </a:solidFill>
                <a:latin typeface="Cambria"/>
                <a:cs typeface="Cambria"/>
              </a:rPr>
              <a:t>DXplain</a:t>
            </a:r>
            <a:r>
              <a:rPr sz="3350" spc="95" dirty="0">
                <a:solidFill>
                  <a:srgbClr val="035489"/>
                </a:solidFill>
                <a:latin typeface="Cambria"/>
                <a:cs typeface="Cambria"/>
              </a:rPr>
              <a:t> </a:t>
            </a:r>
            <a:r>
              <a:rPr sz="3350" spc="-10" dirty="0">
                <a:solidFill>
                  <a:srgbClr val="034987"/>
                </a:solidFill>
                <a:latin typeface="Cambria"/>
                <a:cs typeface="Cambria"/>
              </a:rPr>
              <a:t>(1980s)</a:t>
            </a:r>
            <a:endParaRPr sz="3350">
              <a:latin typeface="Cambria"/>
              <a:cs typeface="Cambria"/>
            </a:endParaRPr>
          </a:p>
          <a:p>
            <a:pPr marL="12065" marR="5080" algn="ctr">
              <a:lnSpc>
                <a:spcPct val="118100"/>
              </a:lnSpc>
              <a:spcBef>
                <a:spcPts val="1780"/>
              </a:spcBef>
            </a:pPr>
            <a:r>
              <a:rPr sz="2050" dirty="0">
                <a:solidFill>
                  <a:srgbClr val="131313"/>
                </a:solidFill>
                <a:latin typeface="Arial MT"/>
                <a:cs typeface="Arial MT"/>
              </a:rPr>
              <a:t>Lists</a:t>
            </a:r>
            <a:r>
              <a:rPr sz="2050" spc="-1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1C1C1C"/>
                </a:solidFill>
                <a:latin typeface="Arial MT"/>
                <a:cs typeface="Arial MT"/>
              </a:rPr>
              <a:t>possible</a:t>
            </a:r>
            <a:r>
              <a:rPr sz="2050" spc="-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131313"/>
                </a:solidFill>
                <a:latin typeface="Arial MT"/>
                <a:cs typeface="Arial MT"/>
              </a:rPr>
              <a:t>diseases</a:t>
            </a:r>
            <a:r>
              <a:rPr sz="2050" spc="-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050" spc="-20" dirty="0">
                <a:solidFill>
                  <a:srgbClr val="1C1C1C"/>
                </a:solidFill>
                <a:latin typeface="Arial MT"/>
                <a:cs typeface="Arial MT"/>
              </a:rPr>
              <a:t>from </a:t>
            </a:r>
            <a:r>
              <a:rPr sz="2050" spc="-10" dirty="0">
                <a:solidFill>
                  <a:srgbClr val="131313"/>
                </a:solidFill>
                <a:latin typeface="Arial MT"/>
                <a:cs typeface="Arial MT"/>
              </a:rPr>
              <a:t>symptoms.</a:t>
            </a:r>
            <a:endParaRPr sz="2050">
              <a:latin typeface="Arial MT"/>
              <a:cs typeface="Arial M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E425C1-2ECB-D045-B71B-3E3733FB6A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78" y="3565336"/>
            <a:ext cx="4319241" cy="35339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D40C07-FF90-2C76-33D0-B69492CBE8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746" y="3565335"/>
            <a:ext cx="4298315" cy="35339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B65C8E-CCC6-9323-1D6C-AAA0B86AE0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050" y="3559439"/>
            <a:ext cx="4518660" cy="35339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7D6FD01-7DA9-8E87-535D-907680C555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6716" y="3559438"/>
            <a:ext cx="4341082" cy="35339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EF2E5C-8468-A5E8-D270-2F1A20BF683E}"/>
              </a:ext>
            </a:extLst>
          </p:cNvPr>
          <p:cNvSpPr txBox="1"/>
          <p:nvPr/>
        </p:nvSpPr>
        <p:spPr>
          <a:xfrm>
            <a:off x="527050" y="549275"/>
            <a:ext cx="18211800" cy="994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0" b="1" dirty="0"/>
              <a:t>Medical &amp; Healthcare Systems</a:t>
            </a:r>
          </a:p>
          <a:p>
            <a:pPr>
              <a:buNone/>
            </a:pPr>
            <a:endParaRPr lang="en-US" sz="6000" b="1" dirty="0"/>
          </a:p>
          <a:p>
            <a:pPr>
              <a:buNone/>
            </a:pPr>
            <a:r>
              <a:rPr lang="en-US" sz="4000" dirty="0"/>
              <a:t>Modern and classic systems focused on clinical decision support and diagnosis.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 err="1"/>
              <a:t>DXplain</a:t>
            </a:r>
            <a:r>
              <a:rPr lang="en-US" sz="4000" b="1" dirty="0"/>
              <a:t>:</a:t>
            </a:r>
            <a:r>
              <a:rPr lang="en-US" sz="4000" dirty="0"/>
              <a:t> A clinical support system that suggests potential diseases based on a doctor's findings and patient symptoms.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 err="1"/>
              <a:t>CaDet</a:t>
            </a:r>
            <a:r>
              <a:rPr lang="en-US" sz="4000" b="1" dirty="0"/>
              <a:t>:</a:t>
            </a:r>
            <a:r>
              <a:rPr lang="en-US" sz="4000" dirty="0"/>
              <a:t> An expert system specialized in the early detection and identification of various types of cancer.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/>
              <a:t>PXDES:</a:t>
            </a:r>
            <a:r>
              <a:rPr lang="en-US" sz="4000" dirty="0"/>
              <a:t> Assists in identifying the type and level of lung cancer using patient images and limited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/>
              <a:t>CADUCEUS:</a:t>
            </a:r>
            <a:r>
              <a:rPr lang="en-US" sz="4000" dirty="0"/>
              <a:t> A medical diagnosis system designed to handle complex cases of infectious diseases.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/>
              <a:t>PUFF:</a:t>
            </a:r>
            <a:r>
              <a:rPr lang="en-US" sz="4000" dirty="0"/>
              <a:t> An expert system developed to diagnose lung diseases and monitor pulmonary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/>
              <a:t>CASNET:</a:t>
            </a:r>
            <a:r>
              <a:rPr lang="en-US" sz="4000" dirty="0"/>
              <a:t> One of the early systems used for diagnosing and treating various medical conditions, including glaucoma.</a:t>
            </a:r>
          </a:p>
        </p:txBody>
      </p:sp>
    </p:spTree>
    <p:extLst>
      <p:ext uri="{BB962C8B-B14F-4D97-AF65-F5344CB8AC3E}">
        <p14:creationId xmlns:p14="http://schemas.microsoft.com/office/powerpoint/2010/main" val="1380658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DB40F7-B1EF-2BFB-7C54-1513A2AF0637}"/>
              </a:ext>
            </a:extLst>
          </p:cNvPr>
          <p:cNvSpPr txBox="1"/>
          <p:nvPr/>
        </p:nvSpPr>
        <p:spPr>
          <a:xfrm>
            <a:off x="603250" y="314751"/>
            <a:ext cx="17068800" cy="10679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/>
              <a:t>Business &amp; Engineering Systems</a:t>
            </a:r>
          </a:p>
          <a:p>
            <a:pPr>
              <a:buNone/>
            </a:pPr>
            <a:endParaRPr lang="en-US" sz="4400" b="1" dirty="0"/>
          </a:p>
          <a:p>
            <a:pPr>
              <a:buNone/>
            </a:pPr>
            <a:r>
              <a:rPr lang="en-US" sz="3200" dirty="0"/>
              <a:t>These systems manage complex processes, from configuration to safety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Mistral:</a:t>
            </a:r>
            <a:r>
              <a:rPr lang="en-US" sz="3200" dirty="0"/>
              <a:t> A long-running monitoring system used for dam safety; it has been operational on several dams in Italy and abroad since the 1990s.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Alacrity:</a:t>
            </a:r>
            <a:r>
              <a:rPr lang="en-US" sz="3200" dirty="0"/>
              <a:t> The first commercial strategy managerial advisory system, utilizing a complex knowledge base of over 3,000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XSEL:</a:t>
            </a:r>
            <a:r>
              <a:rPr lang="en-US" sz="3200" dirty="0"/>
              <a:t> A specialized configuration system developed by Xerox to manage computer system orders without human intervention.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Hearsay:</a:t>
            </a:r>
            <a:r>
              <a:rPr lang="en-US" sz="3200" dirty="0"/>
              <a:t> An early attempt to solve voice recognition through an expert systems approach by identifying phonemes in audio.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None/>
            </a:pPr>
            <a:r>
              <a:rPr lang="en-US" sz="4400" b="1" dirty="0"/>
              <a:t>Software Frameworks (Shells)</a:t>
            </a:r>
          </a:p>
          <a:p>
            <a:pPr>
              <a:buNone/>
            </a:pPr>
            <a:endParaRPr lang="en-US" sz="4400" b="1" dirty="0"/>
          </a:p>
          <a:p>
            <a:pPr>
              <a:buNone/>
            </a:pPr>
            <a:r>
              <a:rPr lang="en-US" sz="3200" dirty="0"/>
              <a:t>"Shells" are expert systems without a pre-loaded knowledge base, allowing developers to build new 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Java Expert System Shell (JESS):</a:t>
            </a:r>
            <a:r>
              <a:rPr lang="en-US" sz="3200" dirty="0"/>
              <a:t> A popular tool for building rule-based expert systems in the Java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Vidwan:</a:t>
            </a:r>
            <a:r>
              <a:rPr lang="en-US" sz="3200" dirty="0"/>
              <a:t> A shell used to reduce the effort and cost of developing new expert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APES:</a:t>
            </a:r>
            <a:r>
              <a:rPr lang="en-US" sz="3200" dirty="0"/>
              <a:t> An early expert system shell based on the Prolog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3907654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5746" y="3376860"/>
            <a:ext cx="4319240" cy="35339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9113" y="3376860"/>
            <a:ext cx="4319240" cy="35339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42480" y="3376860"/>
            <a:ext cx="4319240" cy="353392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26673" y="3361154"/>
            <a:ext cx="4351020" cy="3565525"/>
            <a:chOff x="926673" y="3361154"/>
            <a:chExt cx="4351020" cy="356552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6673" y="3361154"/>
              <a:ext cx="4350652" cy="29606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673" y="3361154"/>
              <a:ext cx="4350652" cy="356533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194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14"/>
              </a:spcBef>
            </a:pPr>
            <a:r>
              <a:rPr sz="5650" dirty="0">
                <a:solidFill>
                  <a:srgbClr val="013667"/>
                </a:solidFill>
                <a:latin typeface="Cambria"/>
                <a:cs typeface="Cambria"/>
              </a:rPr>
              <a:t>Expert</a:t>
            </a:r>
            <a:r>
              <a:rPr sz="5650" spc="180" dirty="0">
                <a:solidFill>
                  <a:srgbClr val="013667"/>
                </a:solidFill>
                <a:latin typeface="Cambria"/>
                <a:cs typeface="Cambria"/>
              </a:rPr>
              <a:t> </a:t>
            </a:r>
            <a:r>
              <a:rPr sz="5650" spc="50" dirty="0">
                <a:solidFill>
                  <a:srgbClr val="003869"/>
                </a:solidFill>
                <a:latin typeface="Cambria"/>
                <a:cs typeface="Cambria"/>
              </a:rPr>
              <a:t>Systems</a:t>
            </a:r>
            <a:r>
              <a:rPr sz="5650" spc="90" dirty="0">
                <a:solidFill>
                  <a:srgbClr val="003869"/>
                </a:solidFill>
                <a:latin typeface="Cambria"/>
                <a:cs typeface="Cambria"/>
              </a:rPr>
              <a:t> </a:t>
            </a:r>
            <a:r>
              <a:rPr sz="5650" spc="229" dirty="0">
                <a:solidFill>
                  <a:srgbClr val="033660"/>
                </a:solidFill>
                <a:latin typeface="Cambria"/>
                <a:cs typeface="Cambria"/>
              </a:rPr>
              <a:t>in</a:t>
            </a:r>
            <a:r>
              <a:rPr sz="5650" spc="-405" dirty="0">
                <a:solidFill>
                  <a:srgbClr val="033660"/>
                </a:solidFill>
                <a:latin typeface="Cambria"/>
                <a:cs typeface="Cambria"/>
              </a:rPr>
              <a:t> </a:t>
            </a:r>
            <a:r>
              <a:rPr sz="5650" spc="-50" dirty="0">
                <a:solidFill>
                  <a:srgbClr val="053462"/>
                </a:solidFill>
                <a:latin typeface="Cambria"/>
                <a:cs typeface="Cambria"/>
              </a:rPr>
              <a:t>Your</a:t>
            </a:r>
            <a:r>
              <a:rPr sz="5650" spc="30" dirty="0">
                <a:solidFill>
                  <a:srgbClr val="053462"/>
                </a:solidFill>
                <a:latin typeface="Cambria"/>
                <a:cs typeface="Cambria"/>
              </a:rPr>
              <a:t> </a:t>
            </a:r>
            <a:r>
              <a:rPr sz="5650" dirty="0">
                <a:solidFill>
                  <a:srgbClr val="003864"/>
                </a:solidFill>
                <a:latin typeface="Cambria"/>
                <a:cs typeface="Cambria"/>
              </a:rPr>
              <a:t>Daily </a:t>
            </a:r>
            <a:r>
              <a:rPr sz="5650" spc="65" dirty="0">
                <a:solidFill>
                  <a:srgbClr val="003867"/>
                </a:solidFill>
                <a:latin typeface="Cambria"/>
                <a:cs typeface="Cambria"/>
              </a:rPr>
              <a:t>Life</a:t>
            </a:r>
            <a:endParaRPr sz="565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47737" y="7197669"/>
          <a:ext cx="17851755" cy="185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5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9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685">
                <a:tc>
                  <a:txBody>
                    <a:bodyPr/>
                    <a:lstStyle/>
                    <a:p>
                      <a:pPr marL="1186180">
                        <a:lnSpc>
                          <a:spcPts val="3854"/>
                        </a:lnSpc>
                      </a:pPr>
                      <a:r>
                        <a:rPr sz="3350" b="1" spc="-10" dirty="0">
                          <a:solidFill>
                            <a:srgbClr val="004F85"/>
                          </a:solidFill>
                          <a:latin typeface="Cambria"/>
                          <a:cs typeface="Cambria"/>
                        </a:rPr>
                        <a:t>Streaming</a:t>
                      </a:r>
                      <a:endParaRPr sz="33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ts val="3854"/>
                        </a:lnSpc>
                      </a:pPr>
                      <a:r>
                        <a:rPr sz="3350" b="1" spc="-10" dirty="0">
                          <a:solidFill>
                            <a:srgbClr val="0C598E"/>
                          </a:solidFill>
                          <a:latin typeface="Cambria"/>
                          <a:cs typeface="Cambria"/>
                        </a:rPr>
                        <a:t>Banking</a:t>
                      </a:r>
                      <a:endParaRPr sz="33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825" algn="ctr">
                        <a:lnSpc>
                          <a:spcPts val="3854"/>
                        </a:lnSpc>
                      </a:pPr>
                      <a:r>
                        <a:rPr sz="3350" b="1" spc="-100" dirty="0">
                          <a:solidFill>
                            <a:srgbClr val="004677"/>
                          </a:solidFill>
                          <a:latin typeface="Cambria"/>
                          <a:cs typeface="Cambria"/>
                        </a:rPr>
                        <a:t>Customer</a:t>
                      </a:r>
                      <a:r>
                        <a:rPr sz="3350" b="1" spc="-15" dirty="0">
                          <a:solidFill>
                            <a:srgbClr val="004677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350" b="1" spc="-20" dirty="0">
                          <a:solidFill>
                            <a:srgbClr val="004B7E"/>
                          </a:solidFill>
                          <a:latin typeface="Cambria"/>
                          <a:cs typeface="Cambria"/>
                        </a:rPr>
                        <a:t>Support</a:t>
                      </a:r>
                      <a:endParaRPr sz="33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340" algn="ctr">
                        <a:lnSpc>
                          <a:spcPts val="3854"/>
                        </a:lnSpc>
                      </a:pPr>
                      <a:r>
                        <a:rPr sz="3350" b="1" spc="-45" dirty="0">
                          <a:solidFill>
                            <a:srgbClr val="005095"/>
                          </a:solidFill>
                          <a:latin typeface="Cambria"/>
                          <a:cs typeface="Cambria"/>
                        </a:rPr>
                        <a:t>Automotive</a:t>
                      </a:r>
                      <a:endParaRPr sz="33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300" spc="-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The"Recommended</a:t>
                      </a:r>
                      <a:r>
                        <a:rPr sz="2300" spc="-1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5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2300" spc="4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18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You"</a:t>
                      </a:r>
                      <a:r>
                        <a:rPr sz="2300" spc="-8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list</a:t>
                      </a:r>
                      <a:r>
                        <a:rPr sz="2300" spc="-8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2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uses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30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Rules-based</a:t>
                      </a:r>
                      <a:r>
                        <a:rPr sz="2300" spc="20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systems</a:t>
                      </a:r>
                      <a:r>
                        <a:rPr sz="2300" spc="11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detect</a:t>
                      </a:r>
                      <a:r>
                        <a:rPr sz="2300" spc="25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R="9715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30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Chatbots</a:t>
                      </a:r>
                      <a:r>
                        <a:rPr sz="2300" spc="-114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sz="2300" spc="-1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rules</a:t>
                      </a:r>
                      <a:r>
                        <a:rPr sz="2300" spc="-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6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300" spc="-14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1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understand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L="34226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300" spc="-14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Your</a:t>
                      </a:r>
                      <a:r>
                        <a:rPr sz="2300" spc="2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car's</a:t>
                      </a:r>
                      <a:r>
                        <a:rPr sz="2300" spc="-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5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onboard</a:t>
                      </a:r>
                      <a:r>
                        <a:rPr sz="2300" spc="-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1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diagnostics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850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marL="74295">
                        <a:lnSpc>
                          <a:spcPts val="2525"/>
                        </a:lnSpc>
                      </a:pPr>
                      <a:r>
                        <a:rPr sz="23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rules</a:t>
                      </a:r>
                      <a:r>
                        <a:rPr sz="2300" spc="-7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55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300" spc="-125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suggest </a:t>
                      </a:r>
                      <a:r>
                        <a:rPr sz="2300" spc="-65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sz="2300" spc="-15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55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300" spc="-95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45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watch</a:t>
                      </a:r>
                      <a:r>
                        <a:rPr sz="2300" spc="-9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1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next.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30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flag</a:t>
                      </a:r>
                      <a:r>
                        <a:rPr sz="2300" spc="-135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suspicious</a:t>
                      </a:r>
                      <a:r>
                        <a:rPr sz="2300" spc="-1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3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transactions</a:t>
                      </a:r>
                      <a:r>
                        <a:rPr sz="2300" spc="95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25" dirty="0">
                          <a:solidFill>
                            <a:srgbClr val="0F0F0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endParaRPr sz="2300">
                        <a:latin typeface="Calibri"/>
                        <a:cs typeface="Calibri"/>
                      </a:endParaRPr>
                    </a:p>
                    <a:p>
                      <a:pPr marR="3048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300" spc="-1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preventfraud.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ctr">
                        <a:lnSpc>
                          <a:spcPts val="2525"/>
                        </a:lnSpc>
                      </a:pPr>
                      <a:r>
                        <a:rPr sz="2300" spc="-11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your</a:t>
                      </a:r>
                      <a:r>
                        <a:rPr sz="2300" spc="-25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4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problem</a:t>
                      </a:r>
                      <a:r>
                        <a:rPr sz="2300" spc="-8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300" spc="-1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3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provide</a:t>
                      </a:r>
                      <a:r>
                        <a:rPr sz="2300" spc="-4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2300" spc="-1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1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instant</a:t>
                      </a:r>
                      <a:endParaRPr sz="2300">
                        <a:latin typeface="Calibri"/>
                        <a:cs typeface="Calibri"/>
                      </a:endParaRPr>
                    </a:p>
                    <a:p>
                      <a:pPr marR="7810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3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answer.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220" algn="ctr">
                        <a:lnSpc>
                          <a:spcPts val="2525"/>
                        </a:lnSpc>
                      </a:pPr>
                      <a:r>
                        <a:rPr sz="230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2300" spc="-135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uses</a:t>
                      </a:r>
                      <a:r>
                        <a:rPr sz="2300" spc="-105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rules</a:t>
                      </a:r>
                      <a:r>
                        <a:rPr sz="2300" spc="-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55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300" spc="-125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35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identify</a:t>
                      </a:r>
                      <a:r>
                        <a:rPr sz="2300" spc="55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6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300">
                        <a:latin typeface="Calibri"/>
                        <a:cs typeface="Calibri"/>
                      </a:endParaRPr>
                    </a:p>
                    <a:p>
                      <a:pPr marL="35115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3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problem.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7CD3D-D915-470A-3496-E7DECEBA4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10" y="756910"/>
            <a:ext cx="16619855" cy="3293209"/>
          </a:xfr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9600" dirty="0">
                <a:solidFill>
                  <a:srgbClr val="000000"/>
                </a:solidFill>
                <a:latin typeface="Lato" panose="020F0502020204030203" pitchFamily="34" charset="0"/>
              </a:rPr>
              <a:t>Applications of Expert System</a:t>
            </a:r>
            <a:br>
              <a:rPr lang="en-US" altLang="en-US" sz="9600" dirty="0">
                <a:solidFill>
                  <a:srgbClr val="000000"/>
                </a:solidFill>
                <a:latin typeface="Lato" panose="020F0502020204030203" pitchFamily="34" charset="0"/>
              </a:rPr>
            </a:br>
            <a:r>
              <a:rPr lang="en-US" altLang="en-US" sz="4000" dirty="0">
                <a:solidFill>
                  <a:srgbClr val="000000"/>
                </a:solidFill>
                <a:latin typeface="Verdana" panose="020B0604030504040204" pitchFamily="34" charset="0"/>
              </a:rPr>
              <a:t>The following table shows where ES can be applied</a:t>
            </a:r>
            <a:r>
              <a:rPr lang="en-US" altLang="en-US" sz="6000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br>
              <a:rPr lang="en-US" altLang="en-US" sz="7200" dirty="0">
                <a:solidFill>
                  <a:schemeClr val="tx1"/>
                </a:solidFill>
              </a:rPr>
            </a:b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05119C-517B-C0C0-B751-B454C937D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004659"/>
              </p:ext>
            </p:extLst>
          </p:nvPr>
        </p:nvGraphicFramePr>
        <p:xfrm>
          <a:off x="912010" y="3597275"/>
          <a:ext cx="15921840" cy="6858001"/>
        </p:xfrm>
        <a:graphic>
          <a:graphicData uri="http://schemas.openxmlformats.org/drawingml/2006/table">
            <a:tbl>
              <a:tblPr/>
              <a:tblGrid>
                <a:gridCol w="4776467">
                  <a:extLst>
                    <a:ext uri="{9D8B030D-6E8A-4147-A177-3AD203B41FA5}">
                      <a16:colId xmlns:a16="http://schemas.microsoft.com/office/drawing/2014/main" val="3051205377"/>
                    </a:ext>
                  </a:extLst>
                </a:gridCol>
                <a:gridCol w="11145373">
                  <a:extLst>
                    <a:ext uri="{9D8B030D-6E8A-4147-A177-3AD203B41FA5}">
                      <a16:colId xmlns:a16="http://schemas.microsoft.com/office/drawing/2014/main" val="2287530247"/>
                    </a:ext>
                  </a:extLst>
                </a:gridCol>
              </a:tblGrid>
              <a:tr h="6349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Application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Description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66369"/>
                  </a:ext>
                </a:extLst>
              </a:tr>
              <a:tr h="6349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Design Domain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3200">
                          <a:effectLst/>
                        </a:rPr>
                        <a:t>Camera lens design, automobile design.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22071"/>
                  </a:ext>
                </a:extLst>
              </a:tr>
              <a:tr h="12158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dirty="0">
                          <a:effectLst/>
                        </a:rPr>
                        <a:t>Medical Domain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Diagnosis Systems to deduce cause of disease from observed data, conduction medical operations on humans.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754607"/>
                  </a:ext>
                </a:extLst>
              </a:tr>
              <a:tr h="179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Monitoring Systems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>
                          <a:effectLst/>
                        </a:rPr>
                        <a:t>Comparing data continuously with observed system or with prescribed behavior such as leakage monitoring in long petroleum pipeline.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436169"/>
                  </a:ext>
                </a:extLst>
              </a:tr>
              <a:tr h="7245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Process Control Systems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>
                          <a:effectLst/>
                        </a:rPr>
                        <a:t>Controlling a physical process based on monitoring.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012325"/>
                  </a:ext>
                </a:extLst>
              </a:tr>
              <a:tr h="6349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Knowledge Domain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Finding out faults in vehicles, computers.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019427"/>
                  </a:ext>
                </a:extLst>
              </a:tr>
              <a:tr h="12158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Finance/Commerce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>
                          <a:effectLst/>
                        </a:rPr>
                        <a:t>Detection of possible fraud, suspicious transactions, stock market trading, Airline scheduling, cargo scheduling.</a:t>
                      </a:r>
                    </a:p>
                  </a:txBody>
                  <a:tcPr marL="22694" marR="22694" marT="22694" marB="22694" anchor="ctr">
                    <a:lnL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20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680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6253-B296-C2A3-896A-3B5B69D7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650" y="1158875"/>
            <a:ext cx="16619855" cy="1231106"/>
          </a:xfrm>
        </p:spPr>
        <p:txBody>
          <a:bodyPr/>
          <a:lstStyle/>
          <a:p>
            <a:r>
              <a:rPr lang="en-IN" sz="8000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998FE-B77F-DCB9-096A-0C509AE7E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3850" y="3140075"/>
            <a:ext cx="15468600" cy="25083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hlinkClick r:id="rId2"/>
              </a:rPr>
              <a:t>https://www.tutorialspoint.com/artificial_intelligence/artificial_intelligence_expert_systems.htm</a:t>
            </a:r>
            <a:endParaRPr lang="en-I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hlinkClick r:id="rId3"/>
              </a:rPr>
              <a:t>https://www.simplilearn.com/tutorials/artificial-intelligence-tutorial/what-are-expert-systems-in-ai</a:t>
            </a:r>
            <a:endParaRPr lang="en-IN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64B90-3250-1816-F5D4-479BD5F562F1}"/>
              </a:ext>
            </a:extLst>
          </p:cNvPr>
          <p:cNvSpPr txBox="1"/>
          <p:nvPr/>
        </p:nvSpPr>
        <p:spPr>
          <a:xfrm>
            <a:off x="1587500" y="5426075"/>
            <a:ext cx="16084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https://www.mygreatlearning.com/blog/expert-systems-in-artificial-intelligence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59297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4C5C0D-C898-6091-1C53-04D17768B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50" y="473075"/>
            <a:ext cx="177546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6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1479</TotalTime>
  <Words>1468</Words>
  <Application>Microsoft Office PowerPoint</Application>
  <PresentationFormat>Custom</PresentationFormat>
  <Paragraphs>175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Arial</vt:lpstr>
      <vt:lpstr>Arial MT</vt:lpstr>
      <vt:lpstr>Bahnschrift</vt:lpstr>
      <vt:lpstr>Bahnschrift SemiLight</vt:lpstr>
      <vt:lpstr>Calibri</vt:lpstr>
      <vt:lpstr>Cambria</vt:lpstr>
      <vt:lpstr>Constantia</vt:lpstr>
      <vt:lpstr>inherit</vt:lpstr>
      <vt:lpstr>Lato</vt:lpstr>
      <vt:lpstr>Times New Roman</vt:lpstr>
      <vt:lpstr>Verdana</vt:lpstr>
      <vt:lpstr>Wingdings</vt:lpstr>
      <vt:lpstr>Office Theme</vt:lpstr>
      <vt:lpstr>STEPS IN DEVELOPING AN EXPERT SYSTEMS </vt:lpstr>
      <vt:lpstr>What is an Expert System?</vt:lpstr>
      <vt:lpstr>PowerPoint Presentation</vt:lpstr>
      <vt:lpstr>The Three Core Components</vt:lpstr>
      <vt:lpstr>PowerPoint Presentation</vt:lpstr>
      <vt:lpstr>The 6 Steps:</vt:lpstr>
      <vt:lpstr>PowerPoint Presentation</vt:lpstr>
      <vt:lpstr>Step 2: Knowledge Acquisition (Getting the Facts)</vt:lpstr>
      <vt:lpstr>Step 3: Knowledge Representation (Writing the Rules)</vt:lpstr>
      <vt:lpstr>Step 4: Implementation (Building the System)</vt:lpstr>
      <vt:lpstr>Step 5 &amp; 6: Testing, Rollout, and Maintenance</vt:lpstr>
      <vt:lpstr>Beyond Rules: Different Types of ES</vt:lpstr>
      <vt:lpstr>Why Expert Systems Matter (and their Limits)</vt:lpstr>
      <vt:lpstr>Classic Examples in Action</vt:lpstr>
      <vt:lpstr>PowerPoint Presentation</vt:lpstr>
      <vt:lpstr>PowerPoint Presentation</vt:lpstr>
      <vt:lpstr>Expert Systems in Your Daily Life</vt:lpstr>
      <vt:lpstr>Applications of Expert System The following table shows where ES can be applied. </vt:lpstr>
      <vt:lpstr>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kudikyala shirisha</cp:lastModifiedBy>
  <cp:revision>5</cp:revision>
  <dcterms:created xsi:type="dcterms:W3CDTF">2025-11-16T20:46:56Z</dcterms:created>
  <dcterms:modified xsi:type="dcterms:W3CDTF">2025-12-18T04:21:58Z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2025-11-16T00:00:00Z</vt:filetime>
  </property>
  <property fmtid="{D5CDD505-2E9C-101B-9397-08002B2CF9AE}" pid="3" name="LastSaved">
    <vt:filetime>2025-11-16T00:00:00Z</vt:filetime>
  </property>
</Properties>
</file>